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3.png" ContentType="image/png"/>
  <Override PartName="/ppt/media/image12.png" ContentType="image/png"/>
  <Override PartName="/ppt/media/image11.png" ContentType="image/png"/>
  <Override PartName="/ppt/media/image7.jpeg" ContentType="image/jpeg"/>
  <Override PartName="/ppt/media/image18.png" ContentType="image/png"/>
  <Override PartName="/ppt/media/image6.png" ContentType="image/png"/>
  <Override PartName="/ppt/media/image19.png" ContentType="image/png"/>
  <Override PartName="/ppt/media/image1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9.jpeg" ContentType="image/jpeg"/>
  <Override PartName="/ppt/media/image3.png" ContentType="image/png"/>
  <Override PartName="/ppt/media/image4.png" ContentType="image/png"/>
  <Override PartName="/ppt/media/image8.jpeg" ContentType="image/jpeg"/>
  <Override PartName="/ppt/media/image5.png" ContentType="image/png"/>
  <Override PartName="/ppt/media/image10.png" ContentType="image/png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6.xml.rels" ContentType="application/vnd.openxmlformats-package.relationships+xml"/>
  <Override PartName="/ppt/slides/_rels/slide52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41.xml.rels" ContentType="application/vnd.openxmlformats-package.relationships+xml"/>
  <Override PartName="/ppt/slides/_rels/slide6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38.xml.rels" ContentType="application/vnd.openxmlformats-package.relationships+xml"/>
  <Override PartName="/ppt/slides/_rels/slide23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48.xml.rels" ContentType="application/vnd.openxmlformats-package.relationships+xml"/>
  <Override PartName="/ppt/slides/_rels/slide46.xml.rels" ContentType="application/vnd.openxmlformats-package.relationships+xml"/>
  <Override PartName="/ppt/slides/_rels/slide5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presProps" Target="presProps.xml"/>
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MobileNet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97</c:v>
                </c:pt>
                <c:pt idx="1">
                  <c:v>99</c:v>
                </c:pt>
                <c:pt idx="2">
                  <c:v>98</c:v>
                </c:pt>
                <c:pt idx="3">
                  <c:v>98</c:v>
                </c:pt>
                <c:pt idx="4">
                  <c:v>98</c:v>
                </c:pt>
                <c:pt idx="5">
                  <c:v>98</c:v>
                </c:pt>
                <c:pt idx="6">
                  <c:v>100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VGG16</c:v>
                </c:pt>
              </c:strCache>
            </c:strRef>
          </c:tx>
          <c:spPr>
            <a:solidFill>
              <a:srgbClr val="1abc9c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91</c:v>
                </c:pt>
                <c:pt idx="1">
                  <c:v>91</c:v>
                </c:pt>
                <c:pt idx="2">
                  <c:v>92</c:v>
                </c:pt>
                <c:pt idx="3">
                  <c:v>93</c:v>
                </c:pt>
                <c:pt idx="4">
                  <c:v>90</c:v>
                </c:pt>
                <c:pt idx="5">
                  <c:v>91</c:v>
                </c:pt>
                <c:pt idx="6">
                  <c:v>90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CNN3</c:v>
                </c:pt>
              </c:strCache>
            </c:strRef>
          </c:tx>
          <c:spPr>
            <a:solidFill>
              <a:srgbClr val="95a5a6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7"/>
                <c:pt idx="0">
                  <c:v>82</c:v>
                </c:pt>
                <c:pt idx="1">
                  <c:v>87</c:v>
                </c:pt>
                <c:pt idx="2">
                  <c:v>86</c:v>
                </c:pt>
                <c:pt idx="3">
                  <c:v>80</c:v>
                </c:pt>
                <c:pt idx="4">
                  <c:v>87</c:v>
                </c:pt>
                <c:pt idx="5">
                  <c:v>81</c:v>
                </c:pt>
                <c:pt idx="6">
                  <c:v>82</c:v>
                </c:pt>
              </c:numCache>
            </c:numRef>
          </c:val>
        </c:ser>
        <c:gapWidth val="150"/>
        <c:overlap val="0"/>
        <c:axId val="26137337"/>
        <c:axId val="19796123"/>
      </c:barChart>
      <c:catAx>
        <c:axId val="2613733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8888"/>
                </a:solidFill>
                <a:latin typeface="Arial"/>
                <a:ea typeface="DejaVu Sans"/>
              </a:defRPr>
            </a:pPr>
          </a:p>
        </c:txPr>
        <c:crossAx val="19796123"/>
        <c:crosses val="autoZero"/>
        <c:auto val="1"/>
        <c:lblAlgn val="ctr"/>
        <c:lblOffset val="100"/>
        <c:noMultiLvlLbl val="0"/>
      </c:catAx>
      <c:valAx>
        <c:axId val="19796123"/>
        <c:scaling>
          <c:orientation val="minMax"/>
          <c:max val="105"/>
          <c:min val="60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8888"/>
                </a:solidFill>
                <a:latin typeface="Arial"/>
                <a:ea typeface="DejaVu Sans"/>
              </a:defRPr>
            </a:pPr>
          </a:p>
        </c:txPr>
        <c:crossAx val="2613733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800" spc="-1" strike="noStrike">
              <a:solidFill>
                <a:srgbClr val="000000"/>
              </a:solidFill>
              <a:latin typeface="Calibri"/>
              <a:ea typeface="DejaVu Sans"/>
            </a:defRPr>
          </a:pPr>
        </a:p>
      </c:txPr>
    </c:legend>
    <c:plotVisOnly val="1"/>
    <c:dispBlanksAs val="span"/>
  </c:chart>
  <c:spPr>
    <a:solidFill>
      <a:srgbClr val="ffffff"/>
    </a:solidFill>
    <a:ln w="936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Trained Q1</c:v>
                </c:pt>
              </c:strCache>
            </c:strRef>
          </c:tx>
          <c:spPr>
            <a:solidFill>
              <a:srgbClr val="c0392b"/>
            </a:solidFill>
            <a:ln w="25560">
              <a:solidFill>
                <a:srgbClr val="c0392b"/>
              </a:solidFill>
              <a:round/>
            </a:ln>
          </c:spPr>
          <c:marker>
            <c:symbol val="circle"/>
            <c:size val="6"/>
            <c:spPr>
              <a:solidFill>
                <a:srgbClr val="c0392b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97</c:v>
                </c:pt>
                <c:pt idx="1">
                  <c:v>79</c:v>
                </c:pt>
                <c:pt idx="2">
                  <c:v>67</c:v>
                </c:pt>
                <c:pt idx="3">
                  <c:v>70</c:v>
                </c:pt>
                <c:pt idx="4">
                  <c:v>71</c:v>
                </c:pt>
                <c:pt idx="5">
                  <c:v>49</c:v>
                </c:pt>
                <c:pt idx="6">
                  <c:v>44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Trained Q4</c:v>
                </c:pt>
              </c:strCache>
            </c:strRef>
          </c:tx>
          <c:spPr>
            <a:solidFill>
              <a:srgbClr val="e67e22"/>
            </a:solidFill>
            <a:ln w="25560">
              <a:solidFill>
                <a:srgbClr val="e67e22"/>
              </a:solidFill>
              <a:round/>
            </a:ln>
          </c:spPr>
          <c:marker>
            <c:symbol val="circle"/>
            <c:size val="6"/>
            <c:spPr>
              <a:solidFill>
                <a:srgbClr val="e67e22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15</c:v>
                </c:pt>
                <c:pt idx="1">
                  <c:v>79</c:v>
                </c:pt>
                <c:pt idx="2">
                  <c:v>96</c:v>
                </c:pt>
                <c:pt idx="3">
                  <c:v>98</c:v>
                </c:pt>
                <c:pt idx="4">
                  <c:v>99</c:v>
                </c:pt>
                <c:pt idx="5">
                  <c:v>100</c:v>
                </c:pt>
                <c:pt idx="6">
                  <c:v>99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Trained Q7</c:v>
                </c:pt>
              </c:strCache>
            </c:strRef>
          </c:tx>
          <c:spPr>
            <a:solidFill>
              <a:srgbClr val="1abc9c"/>
            </a:solidFill>
            <a:ln w="25560">
              <a:solidFill>
                <a:srgbClr val="1abc9c"/>
              </a:solidFill>
              <a:round/>
            </a:ln>
          </c:spPr>
          <c:marker>
            <c:symbol val="circle"/>
            <c:size val="6"/>
            <c:spPr>
              <a:solidFill>
                <a:srgbClr val="1abc9c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7"/>
                <c:pt idx="0">
                  <c:v>49</c:v>
                </c:pt>
                <c:pt idx="1">
                  <c:v>83</c:v>
                </c:pt>
                <c:pt idx="2">
                  <c:v>95</c:v>
                </c:pt>
                <c:pt idx="3">
                  <c:v>98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47548320"/>
        <c:axId val="79954460"/>
      </c:lineChart>
      <c:catAx>
        <c:axId val="475483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8888"/>
                </a:solidFill>
                <a:latin typeface="Arial"/>
                <a:ea typeface="DejaVu Sans"/>
              </a:defRPr>
            </a:pPr>
          </a:p>
        </c:txPr>
        <c:crossAx val="79954460"/>
        <c:crosses val="autoZero"/>
        <c:auto val="1"/>
        <c:lblAlgn val="ctr"/>
        <c:lblOffset val="100"/>
        <c:noMultiLvlLbl val="0"/>
      </c:catAx>
      <c:valAx>
        <c:axId val="79954460"/>
        <c:scaling>
          <c:orientation val="minMax"/>
          <c:max val="105"/>
          <c:min val="0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8888"/>
                </a:solidFill>
                <a:latin typeface="Arial"/>
                <a:ea typeface="DejaVu Sans"/>
              </a:defRPr>
            </a:pPr>
          </a:p>
        </c:txPr>
        <c:crossAx val="4754832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800" spc="-1" strike="noStrike">
              <a:solidFill>
                <a:srgbClr val="000000"/>
              </a:solidFill>
              <a:latin typeface="Calibri"/>
              <a:ea typeface="DejaVu Sans"/>
            </a:defRPr>
          </a:pPr>
        </a:p>
      </c:txPr>
    </c:legend>
    <c:plotVisOnly val="1"/>
    <c:dispBlanksAs val="span"/>
  </c:chart>
  <c:spPr>
    <a:solidFill>
      <a:srgbClr val="ffffff"/>
    </a:solidFill>
    <a:ln w="936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</a:t>
            </a:r>
            <a:r>
              <a:rPr b="0" lang="en-US" sz="4400" spc="-1" strike="noStrike">
                <a:latin typeface="Arial"/>
              </a:rPr>
              <a:t>ic</a:t>
            </a:r>
            <a:r>
              <a:rPr b="0" lang="en-US" sz="4400" spc="-1" strike="noStrike">
                <a:latin typeface="Arial"/>
              </a:rPr>
              <a:t>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v</a:t>
            </a:r>
            <a:r>
              <a:rPr b="0" lang="en-US" sz="4400" spc="-1" strike="noStrike">
                <a:latin typeface="Arial"/>
              </a:rPr>
              <a:t>e </a:t>
            </a:r>
            <a:r>
              <a:rPr b="0" lang="en-US" sz="4400" spc="-1" strike="noStrike">
                <a:latin typeface="Arial"/>
              </a:rPr>
              <a:t>th</a:t>
            </a:r>
            <a:r>
              <a:rPr b="0" lang="en-US" sz="4400" spc="-1" strike="noStrike">
                <a:latin typeface="Arial"/>
              </a:rPr>
              <a:t>e </a:t>
            </a:r>
            <a:r>
              <a:rPr b="0" lang="en-US" sz="4400" spc="-1" strike="noStrike">
                <a:latin typeface="Arial"/>
              </a:rPr>
              <a:t>sli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</a:t>
            </a:r>
            <a:r>
              <a:rPr b="0" lang="en-US" sz="2000" spc="-1" strike="noStrike">
                <a:latin typeface="Arial"/>
              </a:rPr>
              <a:t>edit the </a:t>
            </a:r>
            <a:r>
              <a:rPr b="0" lang="en-US" sz="2000" spc="-1" strike="noStrike">
                <a:latin typeface="Arial"/>
              </a:rPr>
              <a:t>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046EEA-819D-4617-A04B-334B396D37F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E53FAE-F021-444F-8665-8476C00935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39CAE4-0394-423B-BEEB-C0AD2C084F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AAC4C4-C201-483E-8C33-25A4CD09626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FFB34D-FBEE-41B4-9F40-3F4CB74727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E8685E-73EF-48FD-A5FC-A586646FC5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674082-3E75-4D45-8101-2515CAC988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585C06-93B1-4349-A7CA-F4FBC4AD1B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D8A57E-CB7D-4D1A-BE63-0B6CF7F648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668796-18B5-43F5-9D25-8E02574B03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C51F0B-3E4D-473A-B455-4C9533A1911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D7BB1A-8A97-443C-B540-3E337C373C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979D88-E7D8-4159-B2FA-47634F6557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EB52E1-8036-4AC5-9721-E431FF3419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7FE4BC-0722-42A7-979F-4437D85177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k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h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universe.roboflow.com/playcardsdetection/playing-cards-detection/browse?queryText=&amp;pageSize=50&amp;startingIndex=0&amp;browseQuery=true" TargetMode="External"/><Relationship Id="rId2" Type="http://schemas.openxmlformats.org/officeDocument/2006/relationships/hyperlink" Target="https://universe.roboflow.com/deez-qxupg/playing-cards-detection-5gms1" TargetMode="External"/><Relationship Id="rId3" Type="http://schemas.openxmlformats.org/officeDocument/2006/relationships/hyperlink" Target="https://github.com/TeogopK/Playing-Cards-Object-Detection/tree/main" TargetMode="External"/><Relationship Id="rId4" Type="http://schemas.openxmlformats.org/officeDocument/2006/relationships/hyperlink" Target="https://www.kaggle.com/datasets/andy8744/playing-cards-object-detection-dataset" TargetMode="External"/><Relationship Id="rId5" Type="http://schemas.openxmlformats.org/officeDocument/2006/relationships/hyperlink" Target="https://www.kaggle.com/datasets/gpiosenka/cards-image-datasetclassification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71640" cy="5142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6858000" y="-731520"/>
            <a:ext cx="3198960" cy="319896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2560320"/>
            <a:ext cx="2010240" cy="201024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457200" y="502920"/>
            <a:ext cx="2376000" cy="291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457200" y="502920"/>
            <a:ext cx="23760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140" strike="noStrike">
                <a:solidFill>
                  <a:srgbClr val="ffffff"/>
                </a:solidFill>
                <a:latin typeface="Calibri"/>
                <a:ea typeface="DejaVu Sans"/>
              </a:rPr>
              <a:t>MASTER'S THESIS RESEARCH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96012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AITableGameMonitor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16916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d9488"/>
                </a:solidFill>
                <a:latin typeface="Georgia"/>
                <a:ea typeface="Georgia"/>
              </a:rPr>
              <a:t>Research Plan &amp; Thesis Framework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457200" y="2286000"/>
            <a:ext cx="5027760" cy="25920"/>
          </a:xfrm>
          <a:prstGeom prst="rect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457200" y="242316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YOLO v11n  +  MobileNet  +  Rockchip Embedded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457200" y="272484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H.264 Compression Degradation  ·  Card Classification  ·  Casino Anomaly Detection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57200" y="3383280"/>
            <a:ext cx="2558880" cy="1278720"/>
          </a:xfrm>
          <a:prstGeom prst="rect">
            <a:avLst/>
          </a:prstGeom>
          <a:solidFill>
            <a:srgbClr val="1a2e44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457200" y="3401640"/>
            <a:ext cx="501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d9488"/>
                </a:solidFill>
                <a:latin typeface="Georgia"/>
                <a:ea typeface="Georgia"/>
              </a:rPr>
              <a:t>01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75560" y="3749040"/>
            <a:ext cx="25221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Compression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Analysis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3291840" y="3383280"/>
            <a:ext cx="2558880" cy="1278720"/>
          </a:xfrm>
          <a:prstGeom prst="rect">
            <a:avLst/>
          </a:prstGeom>
          <a:solidFill>
            <a:srgbClr val="1a2e44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3291840" y="3401640"/>
            <a:ext cx="501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Georgia"/>
                <a:ea typeface="Georgia"/>
              </a:rPr>
              <a:t>02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3310200" y="3749040"/>
            <a:ext cx="25221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Solution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Comparison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6126480" y="3383280"/>
            <a:ext cx="2558880" cy="1278720"/>
          </a:xfrm>
          <a:prstGeom prst="rect">
            <a:avLst/>
          </a:prstGeom>
          <a:solidFill>
            <a:srgbClr val="1a2e44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6126480" y="3401640"/>
            <a:ext cx="501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0b981"/>
                </a:solidFill>
                <a:latin typeface="Georgia"/>
                <a:ea typeface="Georgia"/>
              </a:rPr>
              <a:t>03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6144840" y="3749040"/>
            <a:ext cx="25221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Application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Validation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4572000" y="3547800"/>
            <a:ext cx="914040" cy="602640"/>
          </a:xfrm>
          <a:custGeom>
            <a:avLst/>
            <a:gdLst/>
            <a:ahLst/>
            <a:rect l="l" t="t" r="r" b="b"/>
            <a:pathLst>
              <a:path w="32748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9148" y="21600"/>
                </a:lnTo>
                <a:arcTo wR="7548" hR="3600" stAng="5400000" swAng="5400000"/>
                <a:lnTo>
                  <a:pt x="21600" y="3600"/>
                </a:lnTo>
                <a:arcTo wR="7548" hR="3600" stAng="10800000" swAng="5400000"/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dash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/>
          <p:nvPr/>
        </p:nvSpPr>
        <p:spPr>
          <a:xfrm>
            <a:off x="7315200" y="3627360"/>
            <a:ext cx="1142640" cy="533880"/>
          </a:xfrm>
          <a:custGeom>
            <a:avLst/>
            <a:gdLst/>
            <a:ahLst/>
            <a:rect l="l" t="t" r="r" b="b"/>
            <a:pathLst>
              <a:path w="4619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2596" y="21600"/>
                </a:lnTo>
                <a:arcTo wR="20996" hR="3600" stAng="5400000" swAng="5400000"/>
                <a:lnTo>
                  <a:pt x="21600" y="3600"/>
                </a:lnTo>
                <a:arcTo wR="20996" hR="3600" stAng="10800000" swAng="5400000"/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dash"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"/>
          <p:cNvSpPr/>
          <p:nvPr/>
        </p:nvSpPr>
        <p:spPr>
          <a:xfrm>
            <a:off x="7543800" y="2057400"/>
            <a:ext cx="1142640" cy="456840"/>
          </a:xfrm>
          <a:custGeom>
            <a:avLst/>
            <a:gdLst/>
            <a:ahLst/>
            <a:rect l="l" t="t" r="r" b="b"/>
            <a:pathLst>
              <a:path w="5397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50375" y="21600"/>
                </a:lnTo>
                <a:arcTo wR="28775" hR="3600" stAng="5400000" swAng="5400000"/>
                <a:lnTo>
                  <a:pt x="21600" y="3600"/>
                </a:lnTo>
                <a:arcTo wR="28775" hR="3600" stAng="10800000" swAng="5400000"/>
                <a:close/>
              </a:path>
            </a:pathLst>
          </a:custGeom>
          <a:solidFill>
            <a:srgbClr val="ffffff"/>
          </a:solidFill>
          <a:ln cap="rnd" w="0">
            <a:solidFill>
              <a:srgbClr val="3465a4"/>
            </a:solidFill>
            <a:prstDash val="dash"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"/>
          <p:cNvSpPr/>
          <p:nvPr/>
        </p:nvSpPr>
        <p:spPr>
          <a:xfrm>
            <a:off x="6100200" y="2021400"/>
            <a:ext cx="914040" cy="456840"/>
          </a:xfrm>
          <a:custGeom>
            <a:avLst/>
            <a:gdLst/>
            <a:ahLst/>
            <a:rect l="l" t="t" r="r" b="b"/>
            <a:pathLst>
              <a:path w="431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39583" y="21600"/>
                </a:lnTo>
                <a:arcTo wR="17983" hR="3600" stAng="5400000" swAng="5400000"/>
                <a:lnTo>
                  <a:pt x="21600" y="3600"/>
                </a:lnTo>
                <a:arcTo wR="17983" hR="3600" stAng="10800000" swAng="5400000"/>
                <a:close/>
              </a:path>
            </a:pathLst>
          </a:custGeom>
          <a:solidFill>
            <a:srgbClr val="e8f2a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"/>
          <p:cNvSpPr/>
          <p:nvPr/>
        </p:nvSpPr>
        <p:spPr>
          <a:xfrm>
            <a:off x="3393000" y="2057400"/>
            <a:ext cx="914040" cy="456840"/>
          </a:xfrm>
          <a:custGeom>
            <a:avLst/>
            <a:gdLst/>
            <a:ahLst/>
            <a:rect l="l" t="t" r="r" b="b"/>
            <a:pathLst>
              <a:path w="431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39583" y="21600"/>
                </a:lnTo>
                <a:arcTo wR="17983" hR="3600" stAng="5400000" swAng="5400000"/>
                <a:lnTo>
                  <a:pt x="21600" y="3600"/>
                </a:lnTo>
                <a:arcTo wR="17983" hR="3600" stAng="10800000" swAng="5400000"/>
                <a:close/>
              </a:path>
            </a:pathLst>
          </a:custGeom>
          <a:solidFill>
            <a:srgbClr val="e8f2a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1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2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SYSTEM PIPELINE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alibri"/>
                <a:ea typeface="DejaVu Sans"/>
              </a:rPr>
              <a:t>End-to-End Architecture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 71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2 / 9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1143000" y="205740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1864800" y="2514600"/>
            <a:ext cx="182772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H.264 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Image compression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1080 x 720 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75" name="그림 152" descr=""/>
          <p:cNvPicPr/>
          <p:nvPr/>
        </p:nvPicPr>
        <p:blipFill>
          <a:blip r:embed="rId2"/>
          <a:stretch/>
        </p:blipFill>
        <p:spPr>
          <a:xfrm>
            <a:off x="976680" y="3187440"/>
            <a:ext cx="851040" cy="469080"/>
          </a:xfrm>
          <a:prstGeom prst="rect">
            <a:avLst/>
          </a:prstGeom>
          <a:ln w="0">
            <a:noFill/>
          </a:ln>
        </p:spPr>
      </p:pic>
      <p:sp>
        <p:nvSpPr>
          <p:cNvPr id="76" name=""/>
          <p:cNvSpPr/>
          <p:nvPr/>
        </p:nvSpPr>
        <p:spPr>
          <a:xfrm flipV="1">
            <a:off x="1371600" y="2514600"/>
            <a:ext cx="36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"/>
          <p:cNvSpPr/>
          <p:nvPr/>
        </p:nvSpPr>
        <p:spPr>
          <a:xfrm>
            <a:off x="1600200" y="2286000"/>
            <a:ext cx="601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"/>
          <p:cNvSpPr/>
          <p:nvPr/>
        </p:nvSpPr>
        <p:spPr>
          <a:xfrm>
            <a:off x="3434040" y="2092320"/>
            <a:ext cx="99288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Yolov11n</a:t>
            </a:r>
            <a:br>
              <a:rPr sz="1000"/>
            </a:b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Detection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743200" y="2296800"/>
            <a:ext cx="649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"/>
          <p:cNvSpPr/>
          <p:nvPr/>
        </p:nvSpPr>
        <p:spPr>
          <a:xfrm>
            <a:off x="2250000" y="2057400"/>
            <a:ext cx="456120" cy="456120"/>
          </a:xfrm>
          <a:prstGeom prst="ca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"/>
          <p:cNvSpPr/>
          <p:nvPr/>
        </p:nvSpPr>
        <p:spPr>
          <a:xfrm>
            <a:off x="4744800" y="2478600"/>
            <a:ext cx="1827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Crop cards</a:t>
            </a:r>
            <a:br>
              <a:rPr sz="800"/>
            </a:b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    53 classes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0f1923"/>
                </a:solidFill>
                <a:latin typeface="Calibri"/>
                <a:ea typeface="DejaVu Sans"/>
              </a:rPr>
              <a:t>50~55 x 70~75</a:t>
            </a: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 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300200" y="2286000"/>
            <a:ext cx="601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"/>
          <p:cNvSpPr/>
          <p:nvPr/>
        </p:nvSpPr>
        <p:spPr>
          <a:xfrm>
            <a:off x="5443200" y="2296800"/>
            <a:ext cx="649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"/>
          <p:cNvSpPr/>
          <p:nvPr/>
        </p:nvSpPr>
        <p:spPr>
          <a:xfrm>
            <a:off x="4950000" y="2057400"/>
            <a:ext cx="456120" cy="456120"/>
          </a:xfrm>
          <a:prstGeom prst="ca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"/>
          <p:cNvSpPr/>
          <p:nvPr/>
        </p:nvSpPr>
        <p:spPr>
          <a:xfrm>
            <a:off x="6170040" y="2056320"/>
            <a:ext cx="99288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MobileNet</a:t>
            </a:r>
            <a:br>
              <a:rPr sz="1000"/>
            </a:b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classify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556400" y="2165400"/>
            <a:ext cx="1141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Baccarat Rule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080400" y="3785400"/>
            <a:ext cx="900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Results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043400" y="2286000"/>
            <a:ext cx="500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"/>
          <p:cNvSpPr/>
          <p:nvPr/>
        </p:nvSpPr>
        <p:spPr>
          <a:xfrm>
            <a:off x="7471800" y="3699360"/>
            <a:ext cx="1249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Player Foul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Banker Foul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625280" y="3612600"/>
            <a:ext cx="9007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Play win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Banker win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Draw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556400" y="3394800"/>
            <a:ext cx="900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api1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784760" y="4150800"/>
            <a:ext cx="900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api2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 flipH="1">
            <a:off x="6753600" y="3897000"/>
            <a:ext cx="561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"/>
          <p:cNvSpPr/>
          <p:nvPr/>
        </p:nvSpPr>
        <p:spPr>
          <a:xfrm flipH="1">
            <a:off x="5527080" y="3884400"/>
            <a:ext cx="51732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"/>
          <p:cNvSpPr/>
          <p:nvPr/>
        </p:nvSpPr>
        <p:spPr>
          <a:xfrm flipV="1">
            <a:off x="5715000" y="1600200"/>
            <a:ext cx="360" cy="696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"/>
          <p:cNvSpPr/>
          <p:nvPr/>
        </p:nvSpPr>
        <p:spPr>
          <a:xfrm>
            <a:off x="5257800" y="1065960"/>
            <a:ext cx="13705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ff0000"/>
                </a:solidFill>
                <a:latin typeface="Calibri"/>
                <a:ea typeface="DejaVu Sans"/>
              </a:rPr>
              <a:t>Super resolution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ff0000"/>
                </a:solidFill>
                <a:latin typeface="Calibri"/>
                <a:ea typeface="DejaVu Sans"/>
              </a:rPr>
              <a:t>Unblur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ff0000"/>
                </a:solidFill>
                <a:latin typeface="Calibri"/>
                <a:ea typeface="DejaVu Sans"/>
              </a:rPr>
              <a:t>Custom algorithm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073000" y="2514600"/>
            <a:ext cx="360" cy="11127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17"/>
          <p:cNvSpPr/>
          <p:nvPr/>
        </p:nvSpPr>
        <p:spPr>
          <a:xfrm>
            <a:off x="36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29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54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Probable Dataset for Training          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1" name="Text 58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alibri"/>
                <a:ea typeface="DejaVu Sans"/>
              </a:rPr>
              <a:t>End-to-End Architecture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" name="Text 60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2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346400" y="1841400"/>
            <a:ext cx="5942520" cy="17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1. </a:t>
            </a:r>
            <a:r>
              <a:rPr b="0" lang="en-US" sz="10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1"/>
              </a:rPr>
              <a:t>https://universe.roboflow.com/playcardsdetection/playing-cards-detection/browse?queryText=&amp;pageSize=50&amp;startingIndex=0&amp;browseQuery=true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2. </a:t>
            </a:r>
            <a:r>
              <a:rPr b="0" lang="en-US" sz="10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2"/>
              </a:rPr>
              <a:t>https://universe.roboflow.com/deez-qxupg/playing-cards-detection-5gms1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3. </a:t>
            </a:r>
            <a:r>
              <a:rPr b="0" lang="en-US" sz="10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3"/>
              </a:rPr>
              <a:t>https://github.com/TeogopK/Playing-Cards-Object-Detection/tree/main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4. </a:t>
            </a:r>
            <a:r>
              <a:rPr b="0" lang="en-US" sz="10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4"/>
              </a:rPr>
              <a:t>https://www.kaggle.com/datasets/andy8744/playing-cards-object-detection-dataset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5. </a:t>
            </a:r>
            <a:r>
              <a:rPr b="0" lang="en-US" sz="10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5"/>
              </a:rPr>
              <a:t>https://www.kaggle.com/datasets/gpiosenka/cards-image-datasetclassification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1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2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53-CLASS CLASSIFICATION Dataset                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274320" y="822960"/>
            <a:ext cx="20102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0" spc="-1" strike="noStrike">
                <a:solidFill>
                  <a:srgbClr val="f59e0b"/>
                </a:solidFill>
                <a:latin typeface="Georgia"/>
                <a:ea typeface="Georgia"/>
              </a:rPr>
              <a:t>53</a:t>
            </a:r>
            <a:endParaRPr b="0" lang="en-US" sz="10000" spc="-1" strike="noStrike"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274320" y="214884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DejaVu Sans"/>
              </a:rPr>
              <a:t>Total Classes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2560320" y="841320"/>
            <a:ext cx="1918800" cy="1690200"/>
          </a:xfrm>
          <a:prstGeom prst="rect">
            <a:avLst/>
          </a:prstGeom>
          <a:solidFill>
            <a:srgbClr val="1a2e44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7"/>
          <p:cNvSpPr/>
          <p:nvPr/>
        </p:nvSpPr>
        <p:spPr>
          <a:xfrm>
            <a:off x="2560320" y="914400"/>
            <a:ext cx="19188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d9488"/>
                </a:solidFill>
                <a:latin typeface="Georgia"/>
                <a:ea typeface="Georgia"/>
              </a:rPr>
              <a:t>52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2560320" y="1481400"/>
            <a:ext cx="1918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Card Faces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2560320" y="1755720"/>
            <a:ext cx="1918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4 suits × 13 ranks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(A 2 3 4 5 6 7 8 9 10 J Q K)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4709160" y="1481400"/>
            <a:ext cx="1918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15"/>
          <p:cNvSpPr/>
          <p:nvPr/>
        </p:nvSpPr>
        <p:spPr>
          <a:xfrm>
            <a:off x="4698000" y="841320"/>
            <a:ext cx="1918800" cy="1690200"/>
          </a:xfrm>
          <a:prstGeom prst="rect">
            <a:avLst/>
          </a:prstGeom>
          <a:solidFill>
            <a:srgbClr val="1a2e44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6"/>
          <p:cNvSpPr/>
          <p:nvPr/>
        </p:nvSpPr>
        <p:spPr>
          <a:xfrm>
            <a:off x="4698000" y="841320"/>
            <a:ext cx="1918800" cy="7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7"/>
          <p:cNvSpPr/>
          <p:nvPr/>
        </p:nvSpPr>
        <p:spPr>
          <a:xfrm>
            <a:off x="4698000" y="914400"/>
            <a:ext cx="19188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0b981"/>
                </a:solidFill>
                <a:latin typeface="Georgia"/>
                <a:ea typeface="Georgia"/>
              </a:rPr>
              <a:t>+1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4698000" y="1481400"/>
            <a:ext cx="1918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Card Back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4698000" y="1755720"/>
            <a:ext cx="1918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Face-down card detection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(critical first step)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29268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21"/>
          <p:cNvSpPr/>
          <p:nvPr/>
        </p:nvSpPr>
        <p:spPr>
          <a:xfrm>
            <a:off x="29268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A♠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94176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3"/>
          <p:cNvSpPr/>
          <p:nvPr/>
        </p:nvSpPr>
        <p:spPr>
          <a:xfrm>
            <a:off x="94176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2♠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159120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5"/>
          <p:cNvSpPr/>
          <p:nvPr/>
        </p:nvSpPr>
        <p:spPr>
          <a:xfrm>
            <a:off x="159120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3♠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5" name="Shape 26"/>
          <p:cNvSpPr/>
          <p:nvPr/>
        </p:nvSpPr>
        <p:spPr>
          <a:xfrm>
            <a:off x="224028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7"/>
          <p:cNvSpPr/>
          <p:nvPr/>
        </p:nvSpPr>
        <p:spPr>
          <a:xfrm>
            <a:off x="224028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4♠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7" name="Shape 28"/>
          <p:cNvSpPr/>
          <p:nvPr/>
        </p:nvSpPr>
        <p:spPr>
          <a:xfrm>
            <a:off x="288936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29"/>
          <p:cNvSpPr/>
          <p:nvPr/>
        </p:nvSpPr>
        <p:spPr>
          <a:xfrm>
            <a:off x="288936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5♠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9" name="Shape 30"/>
          <p:cNvSpPr/>
          <p:nvPr/>
        </p:nvSpPr>
        <p:spPr>
          <a:xfrm>
            <a:off x="353880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31"/>
          <p:cNvSpPr/>
          <p:nvPr/>
        </p:nvSpPr>
        <p:spPr>
          <a:xfrm>
            <a:off x="353880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6♠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1" name="Shape 32"/>
          <p:cNvSpPr/>
          <p:nvPr/>
        </p:nvSpPr>
        <p:spPr>
          <a:xfrm>
            <a:off x="418788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33"/>
          <p:cNvSpPr/>
          <p:nvPr/>
        </p:nvSpPr>
        <p:spPr>
          <a:xfrm>
            <a:off x="418788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7♠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3" name="Shape 34"/>
          <p:cNvSpPr/>
          <p:nvPr/>
        </p:nvSpPr>
        <p:spPr>
          <a:xfrm>
            <a:off x="483732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5"/>
          <p:cNvSpPr/>
          <p:nvPr/>
        </p:nvSpPr>
        <p:spPr>
          <a:xfrm>
            <a:off x="483732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8♠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5" name="Shape 36"/>
          <p:cNvSpPr/>
          <p:nvPr/>
        </p:nvSpPr>
        <p:spPr>
          <a:xfrm>
            <a:off x="548640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37"/>
          <p:cNvSpPr/>
          <p:nvPr/>
        </p:nvSpPr>
        <p:spPr>
          <a:xfrm>
            <a:off x="548640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9♠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7" name="Shape 38"/>
          <p:cNvSpPr/>
          <p:nvPr/>
        </p:nvSpPr>
        <p:spPr>
          <a:xfrm>
            <a:off x="613548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39"/>
          <p:cNvSpPr/>
          <p:nvPr/>
        </p:nvSpPr>
        <p:spPr>
          <a:xfrm>
            <a:off x="613548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10♠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9" name="Shape 40"/>
          <p:cNvSpPr/>
          <p:nvPr/>
        </p:nvSpPr>
        <p:spPr>
          <a:xfrm>
            <a:off x="678492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41"/>
          <p:cNvSpPr/>
          <p:nvPr/>
        </p:nvSpPr>
        <p:spPr>
          <a:xfrm>
            <a:off x="678492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J♠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1" name="Shape 42"/>
          <p:cNvSpPr/>
          <p:nvPr/>
        </p:nvSpPr>
        <p:spPr>
          <a:xfrm>
            <a:off x="743400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43"/>
          <p:cNvSpPr/>
          <p:nvPr/>
        </p:nvSpPr>
        <p:spPr>
          <a:xfrm>
            <a:off x="743400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Q♠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3" name="Shape 44"/>
          <p:cNvSpPr/>
          <p:nvPr/>
        </p:nvSpPr>
        <p:spPr>
          <a:xfrm>
            <a:off x="8083440" y="276156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45"/>
          <p:cNvSpPr/>
          <p:nvPr/>
        </p:nvSpPr>
        <p:spPr>
          <a:xfrm>
            <a:off x="8083440" y="276156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K♠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5" name="Shape 46"/>
          <p:cNvSpPr/>
          <p:nvPr/>
        </p:nvSpPr>
        <p:spPr>
          <a:xfrm>
            <a:off x="29268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47"/>
          <p:cNvSpPr/>
          <p:nvPr/>
        </p:nvSpPr>
        <p:spPr>
          <a:xfrm>
            <a:off x="29268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A♥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7" name="Shape 48"/>
          <p:cNvSpPr/>
          <p:nvPr/>
        </p:nvSpPr>
        <p:spPr>
          <a:xfrm>
            <a:off x="94176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49"/>
          <p:cNvSpPr/>
          <p:nvPr/>
        </p:nvSpPr>
        <p:spPr>
          <a:xfrm>
            <a:off x="94176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2♥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9" name="Shape 50"/>
          <p:cNvSpPr/>
          <p:nvPr/>
        </p:nvSpPr>
        <p:spPr>
          <a:xfrm>
            <a:off x="159120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51"/>
          <p:cNvSpPr/>
          <p:nvPr/>
        </p:nvSpPr>
        <p:spPr>
          <a:xfrm>
            <a:off x="159120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3♥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1" name="Shape 52"/>
          <p:cNvSpPr/>
          <p:nvPr/>
        </p:nvSpPr>
        <p:spPr>
          <a:xfrm>
            <a:off x="224028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53"/>
          <p:cNvSpPr/>
          <p:nvPr/>
        </p:nvSpPr>
        <p:spPr>
          <a:xfrm>
            <a:off x="224028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4♥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3" name="Shape 54"/>
          <p:cNvSpPr/>
          <p:nvPr/>
        </p:nvSpPr>
        <p:spPr>
          <a:xfrm>
            <a:off x="288936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55"/>
          <p:cNvSpPr/>
          <p:nvPr/>
        </p:nvSpPr>
        <p:spPr>
          <a:xfrm>
            <a:off x="288936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5♥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5" name="Shape 56"/>
          <p:cNvSpPr/>
          <p:nvPr/>
        </p:nvSpPr>
        <p:spPr>
          <a:xfrm>
            <a:off x="353880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57"/>
          <p:cNvSpPr/>
          <p:nvPr/>
        </p:nvSpPr>
        <p:spPr>
          <a:xfrm>
            <a:off x="353880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6♥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7" name="Shape 58"/>
          <p:cNvSpPr/>
          <p:nvPr/>
        </p:nvSpPr>
        <p:spPr>
          <a:xfrm>
            <a:off x="418788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59"/>
          <p:cNvSpPr/>
          <p:nvPr/>
        </p:nvSpPr>
        <p:spPr>
          <a:xfrm>
            <a:off x="418788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7♥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9" name="Shape 60"/>
          <p:cNvSpPr/>
          <p:nvPr/>
        </p:nvSpPr>
        <p:spPr>
          <a:xfrm>
            <a:off x="483732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61"/>
          <p:cNvSpPr/>
          <p:nvPr/>
        </p:nvSpPr>
        <p:spPr>
          <a:xfrm>
            <a:off x="483732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8♥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1" name="Shape 62"/>
          <p:cNvSpPr/>
          <p:nvPr/>
        </p:nvSpPr>
        <p:spPr>
          <a:xfrm>
            <a:off x="548640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63"/>
          <p:cNvSpPr/>
          <p:nvPr/>
        </p:nvSpPr>
        <p:spPr>
          <a:xfrm>
            <a:off x="548640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9♥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3" name="Shape 64"/>
          <p:cNvSpPr/>
          <p:nvPr/>
        </p:nvSpPr>
        <p:spPr>
          <a:xfrm>
            <a:off x="613548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65"/>
          <p:cNvSpPr/>
          <p:nvPr/>
        </p:nvSpPr>
        <p:spPr>
          <a:xfrm>
            <a:off x="613548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10♥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5" name="Shape 66"/>
          <p:cNvSpPr/>
          <p:nvPr/>
        </p:nvSpPr>
        <p:spPr>
          <a:xfrm>
            <a:off x="678492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67"/>
          <p:cNvSpPr/>
          <p:nvPr/>
        </p:nvSpPr>
        <p:spPr>
          <a:xfrm>
            <a:off x="678492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J♥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7" name="Shape 68"/>
          <p:cNvSpPr/>
          <p:nvPr/>
        </p:nvSpPr>
        <p:spPr>
          <a:xfrm>
            <a:off x="743400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69"/>
          <p:cNvSpPr/>
          <p:nvPr/>
        </p:nvSpPr>
        <p:spPr>
          <a:xfrm>
            <a:off x="743400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Q♥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9" name="Shape 70"/>
          <p:cNvSpPr/>
          <p:nvPr/>
        </p:nvSpPr>
        <p:spPr>
          <a:xfrm>
            <a:off x="8083440" y="320040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71"/>
          <p:cNvSpPr/>
          <p:nvPr/>
        </p:nvSpPr>
        <p:spPr>
          <a:xfrm>
            <a:off x="8083440" y="320040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K♥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71" name="Shape 72"/>
          <p:cNvSpPr/>
          <p:nvPr/>
        </p:nvSpPr>
        <p:spPr>
          <a:xfrm>
            <a:off x="29268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73"/>
          <p:cNvSpPr/>
          <p:nvPr/>
        </p:nvSpPr>
        <p:spPr>
          <a:xfrm>
            <a:off x="29268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A♣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73" name="Shape 74"/>
          <p:cNvSpPr/>
          <p:nvPr/>
        </p:nvSpPr>
        <p:spPr>
          <a:xfrm>
            <a:off x="94176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75"/>
          <p:cNvSpPr/>
          <p:nvPr/>
        </p:nvSpPr>
        <p:spPr>
          <a:xfrm>
            <a:off x="94176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2♣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75" name="Shape 76"/>
          <p:cNvSpPr/>
          <p:nvPr/>
        </p:nvSpPr>
        <p:spPr>
          <a:xfrm>
            <a:off x="159120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77"/>
          <p:cNvSpPr/>
          <p:nvPr/>
        </p:nvSpPr>
        <p:spPr>
          <a:xfrm>
            <a:off x="159120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3♣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77" name="Shape 78"/>
          <p:cNvSpPr/>
          <p:nvPr/>
        </p:nvSpPr>
        <p:spPr>
          <a:xfrm>
            <a:off x="224028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79"/>
          <p:cNvSpPr/>
          <p:nvPr/>
        </p:nvSpPr>
        <p:spPr>
          <a:xfrm>
            <a:off x="224028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4♣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79" name="Shape 80"/>
          <p:cNvSpPr/>
          <p:nvPr/>
        </p:nvSpPr>
        <p:spPr>
          <a:xfrm>
            <a:off x="288936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81"/>
          <p:cNvSpPr/>
          <p:nvPr/>
        </p:nvSpPr>
        <p:spPr>
          <a:xfrm>
            <a:off x="288936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5♣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81" name="Shape 82"/>
          <p:cNvSpPr/>
          <p:nvPr/>
        </p:nvSpPr>
        <p:spPr>
          <a:xfrm>
            <a:off x="353880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83"/>
          <p:cNvSpPr/>
          <p:nvPr/>
        </p:nvSpPr>
        <p:spPr>
          <a:xfrm>
            <a:off x="353880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6♣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83" name="Shape 84"/>
          <p:cNvSpPr/>
          <p:nvPr/>
        </p:nvSpPr>
        <p:spPr>
          <a:xfrm>
            <a:off x="418788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85"/>
          <p:cNvSpPr/>
          <p:nvPr/>
        </p:nvSpPr>
        <p:spPr>
          <a:xfrm>
            <a:off x="418788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7♣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85" name="Shape 86"/>
          <p:cNvSpPr/>
          <p:nvPr/>
        </p:nvSpPr>
        <p:spPr>
          <a:xfrm>
            <a:off x="483732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87"/>
          <p:cNvSpPr/>
          <p:nvPr/>
        </p:nvSpPr>
        <p:spPr>
          <a:xfrm>
            <a:off x="483732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8♣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87" name="Shape 88"/>
          <p:cNvSpPr/>
          <p:nvPr/>
        </p:nvSpPr>
        <p:spPr>
          <a:xfrm>
            <a:off x="548640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89"/>
          <p:cNvSpPr/>
          <p:nvPr/>
        </p:nvSpPr>
        <p:spPr>
          <a:xfrm>
            <a:off x="548640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9♣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89" name="Shape 90"/>
          <p:cNvSpPr/>
          <p:nvPr/>
        </p:nvSpPr>
        <p:spPr>
          <a:xfrm>
            <a:off x="613548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91"/>
          <p:cNvSpPr/>
          <p:nvPr/>
        </p:nvSpPr>
        <p:spPr>
          <a:xfrm>
            <a:off x="613548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10♣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1" name="Shape 92"/>
          <p:cNvSpPr/>
          <p:nvPr/>
        </p:nvSpPr>
        <p:spPr>
          <a:xfrm>
            <a:off x="678492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93"/>
          <p:cNvSpPr/>
          <p:nvPr/>
        </p:nvSpPr>
        <p:spPr>
          <a:xfrm>
            <a:off x="678492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J♣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3" name="Shape 94"/>
          <p:cNvSpPr/>
          <p:nvPr/>
        </p:nvSpPr>
        <p:spPr>
          <a:xfrm>
            <a:off x="743400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95"/>
          <p:cNvSpPr/>
          <p:nvPr/>
        </p:nvSpPr>
        <p:spPr>
          <a:xfrm>
            <a:off x="743400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Q♣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5" name="Shape 96"/>
          <p:cNvSpPr/>
          <p:nvPr/>
        </p:nvSpPr>
        <p:spPr>
          <a:xfrm>
            <a:off x="8083440" y="363924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97"/>
          <p:cNvSpPr/>
          <p:nvPr/>
        </p:nvSpPr>
        <p:spPr>
          <a:xfrm>
            <a:off x="8083440" y="363924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K♣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7" name="Shape 98"/>
          <p:cNvSpPr/>
          <p:nvPr/>
        </p:nvSpPr>
        <p:spPr>
          <a:xfrm>
            <a:off x="29268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99"/>
          <p:cNvSpPr/>
          <p:nvPr/>
        </p:nvSpPr>
        <p:spPr>
          <a:xfrm>
            <a:off x="29268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A♦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9" name="Shape 100"/>
          <p:cNvSpPr/>
          <p:nvPr/>
        </p:nvSpPr>
        <p:spPr>
          <a:xfrm>
            <a:off x="94176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01"/>
          <p:cNvSpPr/>
          <p:nvPr/>
        </p:nvSpPr>
        <p:spPr>
          <a:xfrm>
            <a:off x="94176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2♦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1" name="Shape 102"/>
          <p:cNvSpPr/>
          <p:nvPr/>
        </p:nvSpPr>
        <p:spPr>
          <a:xfrm>
            <a:off x="159120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03"/>
          <p:cNvSpPr/>
          <p:nvPr/>
        </p:nvSpPr>
        <p:spPr>
          <a:xfrm>
            <a:off x="159120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3♦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3" name="Shape 104"/>
          <p:cNvSpPr/>
          <p:nvPr/>
        </p:nvSpPr>
        <p:spPr>
          <a:xfrm>
            <a:off x="224028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05"/>
          <p:cNvSpPr/>
          <p:nvPr/>
        </p:nvSpPr>
        <p:spPr>
          <a:xfrm>
            <a:off x="224028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4♦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5" name="Shape 106"/>
          <p:cNvSpPr/>
          <p:nvPr/>
        </p:nvSpPr>
        <p:spPr>
          <a:xfrm>
            <a:off x="288936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07"/>
          <p:cNvSpPr/>
          <p:nvPr/>
        </p:nvSpPr>
        <p:spPr>
          <a:xfrm>
            <a:off x="288936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5♦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7" name="Shape 108"/>
          <p:cNvSpPr/>
          <p:nvPr/>
        </p:nvSpPr>
        <p:spPr>
          <a:xfrm>
            <a:off x="353880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109"/>
          <p:cNvSpPr/>
          <p:nvPr/>
        </p:nvSpPr>
        <p:spPr>
          <a:xfrm>
            <a:off x="353880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6♦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9" name="Shape 110"/>
          <p:cNvSpPr/>
          <p:nvPr/>
        </p:nvSpPr>
        <p:spPr>
          <a:xfrm>
            <a:off x="418788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11"/>
          <p:cNvSpPr/>
          <p:nvPr/>
        </p:nvSpPr>
        <p:spPr>
          <a:xfrm>
            <a:off x="418788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7♦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1" name="Shape 112"/>
          <p:cNvSpPr/>
          <p:nvPr/>
        </p:nvSpPr>
        <p:spPr>
          <a:xfrm>
            <a:off x="483732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13"/>
          <p:cNvSpPr/>
          <p:nvPr/>
        </p:nvSpPr>
        <p:spPr>
          <a:xfrm>
            <a:off x="483732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8♦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3" name="Shape 114"/>
          <p:cNvSpPr/>
          <p:nvPr/>
        </p:nvSpPr>
        <p:spPr>
          <a:xfrm>
            <a:off x="548640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15"/>
          <p:cNvSpPr/>
          <p:nvPr/>
        </p:nvSpPr>
        <p:spPr>
          <a:xfrm>
            <a:off x="548640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9♦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5" name="Shape 116"/>
          <p:cNvSpPr/>
          <p:nvPr/>
        </p:nvSpPr>
        <p:spPr>
          <a:xfrm>
            <a:off x="613548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17"/>
          <p:cNvSpPr/>
          <p:nvPr/>
        </p:nvSpPr>
        <p:spPr>
          <a:xfrm>
            <a:off x="613548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10♦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7" name="Shape 118"/>
          <p:cNvSpPr/>
          <p:nvPr/>
        </p:nvSpPr>
        <p:spPr>
          <a:xfrm>
            <a:off x="678492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19"/>
          <p:cNvSpPr/>
          <p:nvPr/>
        </p:nvSpPr>
        <p:spPr>
          <a:xfrm>
            <a:off x="678492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J♦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9" name="Shape 120"/>
          <p:cNvSpPr/>
          <p:nvPr/>
        </p:nvSpPr>
        <p:spPr>
          <a:xfrm>
            <a:off x="743400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21"/>
          <p:cNvSpPr/>
          <p:nvPr/>
        </p:nvSpPr>
        <p:spPr>
          <a:xfrm>
            <a:off x="743400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Q♦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21" name="Shape 122"/>
          <p:cNvSpPr/>
          <p:nvPr/>
        </p:nvSpPr>
        <p:spPr>
          <a:xfrm>
            <a:off x="8083440" y="4078080"/>
            <a:ext cx="528840" cy="345960"/>
          </a:xfrm>
          <a:prstGeom prst="rect">
            <a:avLst/>
          </a:prstGeom>
          <a:solidFill>
            <a:srgbClr val="1a2e44"/>
          </a:solidFill>
          <a:ln w="6350">
            <a:solidFill>
              <a:srgbClr val="2a40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23"/>
          <p:cNvSpPr/>
          <p:nvPr/>
        </p:nvSpPr>
        <p:spPr>
          <a:xfrm>
            <a:off x="8083440" y="4078080"/>
            <a:ext cx="528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f4444"/>
                </a:solidFill>
                <a:latin typeface="Calibri"/>
                <a:ea typeface="DejaVu Sans"/>
              </a:rPr>
              <a:t>K♦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23" name="Text 124"/>
          <p:cNvSpPr/>
          <p:nvPr/>
        </p:nvSpPr>
        <p:spPr>
          <a:xfrm>
            <a:off x="292680" y="4544640"/>
            <a:ext cx="841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52 standard card faces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24" name="Text 126"/>
          <p:cNvSpPr/>
          <p:nvPr/>
        </p:nvSpPr>
        <p:spPr>
          <a:xfrm>
            <a:off x="8138160" y="3337560"/>
            <a:ext cx="684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Shape 127"/>
          <p:cNvSpPr/>
          <p:nvPr/>
        </p:nvSpPr>
        <p:spPr>
          <a:xfrm>
            <a:off x="274320" y="463608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28"/>
          <p:cNvSpPr/>
          <p:nvPr/>
        </p:nvSpPr>
        <p:spPr>
          <a:xfrm>
            <a:off x="274320" y="463608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129"/>
          <p:cNvSpPr/>
          <p:nvPr/>
        </p:nvSpPr>
        <p:spPr>
          <a:xfrm>
            <a:off x="274320" y="463608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31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3 / 9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1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89" strike="noStrike">
                <a:solidFill>
                  <a:srgbClr val="ffffff"/>
                </a:solidFill>
                <a:latin typeface="Calibri"/>
                <a:ea typeface="DejaVu Sans"/>
              </a:rPr>
              <a:t>PILLAR 1  —  COMPRESSION DEGRADATION ANALYSIS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946440" y="1290960"/>
            <a:ext cx="3061800" cy="839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3" name="Shape 6"/>
          <p:cNvSpPr/>
          <p:nvPr/>
        </p:nvSpPr>
        <p:spPr>
          <a:xfrm>
            <a:off x="946440" y="1290960"/>
            <a:ext cx="382680" cy="839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7"/>
          <p:cNvSpPr/>
          <p:nvPr/>
        </p:nvSpPr>
        <p:spPr>
          <a:xfrm>
            <a:off x="946440" y="1290960"/>
            <a:ext cx="3826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Georgia"/>
                <a:ea typeface="Georgia"/>
              </a:rPr>
              <a:t>01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1376280" y="1327680"/>
            <a:ext cx="2577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Baseline Test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1376280" y="1565280"/>
            <a:ext cx="2577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DejaVu Sans"/>
              </a:rPr>
              <a:t>Clean card image → MobileNet → record per-class accuracy for all 53 classes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946440" y="2503080"/>
            <a:ext cx="3061800" cy="839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11"/>
          <p:cNvSpPr/>
          <p:nvPr/>
        </p:nvSpPr>
        <p:spPr>
          <a:xfrm>
            <a:off x="946440" y="2503080"/>
            <a:ext cx="382680" cy="839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2"/>
          <p:cNvSpPr/>
          <p:nvPr/>
        </p:nvSpPr>
        <p:spPr>
          <a:xfrm>
            <a:off x="946440" y="2503080"/>
            <a:ext cx="3826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Georgia"/>
                <a:ea typeface="Georgia"/>
              </a:rPr>
              <a:t>02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0" name="Text 13"/>
          <p:cNvSpPr/>
          <p:nvPr/>
        </p:nvSpPr>
        <p:spPr>
          <a:xfrm>
            <a:off x="1376280" y="2539800"/>
            <a:ext cx="2577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Compression Sweep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1376280" y="2777400"/>
            <a:ext cx="2577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DejaVu Sans"/>
              </a:rPr>
              <a:t>Apply JPEG quality 100→5% → measure accuracy at each level → plot degradation curve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2" name="Shape 15"/>
          <p:cNvSpPr/>
          <p:nvPr/>
        </p:nvSpPr>
        <p:spPr>
          <a:xfrm>
            <a:off x="4978440" y="1303200"/>
            <a:ext cx="3061800" cy="839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Shape 16"/>
          <p:cNvSpPr/>
          <p:nvPr/>
        </p:nvSpPr>
        <p:spPr>
          <a:xfrm>
            <a:off x="4978440" y="1303200"/>
            <a:ext cx="382680" cy="839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17"/>
          <p:cNvSpPr/>
          <p:nvPr/>
        </p:nvSpPr>
        <p:spPr>
          <a:xfrm>
            <a:off x="4978440" y="1303200"/>
            <a:ext cx="3826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Georgia"/>
                <a:ea typeface="Georgia"/>
              </a:rPr>
              <a:t>03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5" name="Text 18"/>
          <p:cNvSpPr/>
          <p:nvPr/>
        </p:nvSpPr>
        <p:spPr>
          <a:xfrm>
            <a:off x="5408280" y="1339920"/>
            <a:ext cx="2577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Breaking Point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6" name="Text 19"/>
          <p:cNvSpPr/>
          <p:nvPr/>
        </p:nvSpPr>
        <p:spPr>
          <a:xfrm>
            <a:off x="5408280" y="1577520"/>
            <a:ext cx="2577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DejaVu Sans"/>
              </a:rPr>
              <a:t>Identify at which quality level accuracy collapses sharply and which classes fail first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7" name="Shape 20"/>
          <p:cNvSpPr/>
          <p:nvPr/>
        </p:nvSpPr>
        <p:spPr>
          <a:xfrm>
            <a:off x="4978440" y="2551320"/>
            <a:ext cx="3061800" cy="839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21"/>
          <p:cNvSpPr/>
          <p:nvPr/>
        </p:nvSpPr>
        <p:spPr>
          <a:xfrm>
            <a:off x="4978440" y="2551320"/>
            <a:ext cx="382680" cy="839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2"/>
          <p:cNvSpPr/>
          <p:nvPr/>
        </p:nvSpPr>
        <p:spPr>
          <a:xfrm>
            <a:off x="4978440" y="2551320"/>
            <a:ext cx="3826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Georgia"/>
                <a:ea typeface="Georgia"/>
              </a:rPr>
              <a:t>04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5408280" y="2588040"/>
            <a:ext cx="2577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f1923"/>
                </a:solidFill>
                <a:latin typeface="Calibri"/>
                <a:ea typeface="DejaVu Sans"/>
              </a:rPr>
              <a:t>Camera Factors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51" name="Text 24"/>
          <p:cNvSpPr/>
          <p:nvPr/>
        </p:nvSpPr>
        <p:spPr>
          <a:xfrm>
            <a:off x="5408280" y="2825640"/>
            <a:ext cx="2577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DejaVu Sans"/>
              </a:rPr>
              <a:t>Add blur, noise, resolution reduction → generalize beyond just compression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4 / 9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53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55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68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PILLAR 2  —  SOLUTION COMPARISON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6" name="Text 70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4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57" name="Shape 12"/>
          <p:cNvSpPr/>
          <p:nvPr/>
        </p:nvSpPr>
        <p:spPr>
          <a:xfrm>
            <a:off x="201960" y="831240"/>
            <a:ext cx="2741760" cy="4067640"/>
          </a:xfrm>
          <a:prstGeom prst="rect">
            <a:avLst/>
          </a:prstGeom>
          <a:solidFill>
            <a:srgbClr val="1a2e44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Shape 27"/>
          <p:cNvSpPr/>
          <p:nvPr/>
        </p:nvSpPr>
        <p:spPr>
          <a:xfrm>
            <a:off x="201960" y="831240"/>
            <a:ext cx="2741760" cy="50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50"/>
          <p:cNvSpPr/>
          <p:nvPr/>
        </p:nvSpPr>
        <p:spPr>
          <a:xfrm>
            <a:off x="275040" y="831240"/>
            <a:ext cx="2595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923"/>
                </a:solidFill>
                <a:latin typeface="Georgia"/>
                <a:ea typeface="Georgia"/>
              </a:rPr>
              <a:t>Solution 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0" name="Text 52"/>
          <p:cNvSpPr/>
          <p:nvPr/>
        </p:nvSpPr>
        <p:spPr>
          <a:xfrm>
            <a:off x="201960" y="137088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Super Resolution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1" name="Text 56"/>
          <p:cNvSpPr/>
          <p:nvPr/>
        </p:nvSpPr>
        <p:spPr>
          <a:xfrm>
            <a:off x="201960" y="167256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Preprocessing approach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2" name="Shape 45"/>
          <p:cNvSpPr/>
          <p:nvPr/>
        </p:nvSpPr>
        <p:spPr>
          <a:xfrm>
            <a:off x="311760" y="1965240"/>
            <a:ext cx="252216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34"/>
          <p:cNvSpPr/>
          <p:nvPr/>
        </p:nvSpPr>
        <p:spPr>
          <a:xfrm>
            <a:off x="311760" y="201996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DejaVu Sans"/>
              </a:rPr>
              <a:t>Degraded 50×70px card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4" name="Text 135"/>
          <p:cNvSpPr/>
          <p:nvPr/>
        </p:nvSpPr>
        <p:spPr>
          <a:xfrm>
            <a:off x="311760" y="236736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SR Model 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5" name="Text 136"/>
          <p:cNvSpPr/>
          <p:nvPr/>
        </p:nvSpPr>
        <p:spPr>
          <a:xfrm>
            <a:off x="311760" y="271512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Restored 224×224px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6" name="Text 137"/>
          <p:cNvSpPr/>
          <p:nvPr/>
        </p:nvSpPr>
        <p:spPr>
          <a:xfrm>
            <a:off x="311760" y="306252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MobileNet classify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7" name="Shape 51"/>
          <p:cNvSpPr/>
          <p:nvPr/>
        </p:nvSpPr>
        <p:spPr>
          <a:xfrm>
            <a:off x="311760" y="3455640"/>
            <a:ext cx="252216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138"/>
          <p:cNvSpPr/>
          <p:nvPr/>
        </p:nvSpPr>
        <p:spPr>
          <a:xfrm>
            <a:off x="311760" y="3775680"/>
            <a:ext cx="2522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⚠  </a:t>
            </a:r>
            <a:r>
              <a:rPr b="0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Heavy compute — slow on Rockchip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69" name="Shape 103"/>
          <p:cNvSpPr/>
          <p:nvPr/>
        </p:nvSpPr>
        <p:spPr>
          <a:xfrm>
            <a:off x="3146400" y="831240"/>
            <a:ext cx="2741760" cy="4067640"/>
          </a:xfrm>
          <a:prstGeom prst="rect">
            <a:avLst/>
          </a:prstGeom>
          <a:solidFill>
            <a:srgbClr val="1a2e44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Shape 105"/>
          <p:cNvSpPr/>
          <p:nvPr/>
        </p:nvSpPr>
        <p:spPr>
          <a:xfrm>
            <a:off x="3146400" y="831240"/>
            <a:ext cx="2741760" cy="50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40"/>
          <p:cNvSpPr/>
          <p:nvPr/>
        </p:nvSpPr>
        <p:spPr>
          <a:xfrm>
            <a:off x="3219480" y="831240"/>
            <a:ext cx="2595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923"/>
                </a:solidFill>
                <a:latin typeface="Georgia"/>
                <a:ea typeface="Georgia"/>
              </a:rPr>
              <a:t>Solution B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72" name="Text 141"/>
          <p:cNvSpPr/>
          <p:nvPr/>
        </p:nvSpPr>
        <p:spPr>
          <a:xfrm>
            <a:off x="3146400" y="137088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Degraded Training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3" name="Text 142"/>
          <p:cNvSpPr/>
          <p:nvPr/>
        </p:nvSpPr>
        <p:spPr>
          <a:xfrm>
            <a:off x="3146400" y="167256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Domain adaptation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4" name="Shape 107"/>
          <p:cNvSpPr/>
          <p:nvPr/>
        </p:nvSpPr>
        <p:spPr>
          <a:xfrm>
            <a:off x="3256200" y="1965240"/>
            <a:ext cx="252216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143"/>
          <p:cNvSpPr/>
          <p:nvPr/>
        </p:nvSpPr>
        <p:spPr>
          <a:xfrm>
            <a:off x="3256200" y="201996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DejaVu Sans"/>
              </a:rPr>
              <a:t>Clean images collected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6" name="Text 144"/>
          <p:cNvSpPr/>
          <p:nvPr/>
        </p:nvSpPr>
        <p:spPr>
          <a:xfrm>
            <a:off x="3256200" y="236736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Apply JPEG compression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7" name="Text 145"/>
          <p:cNvSpPr/>
          <p:nvPr/>
        </p:nvSpPr>
        <p:spPr>
          <a:xfrm>
            <a:off x="3256200" y="271512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Retrain MobileNet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8" name="Text 146"/>
          <p:cNvSpPr/>
          <p:nvPr/>
        </p:nvSpPr>
        <p:spPr>
          <a:xfrm>
            <a:off x="3256200" y="306252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Deploy as-is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9" name="Shape 109"/>
          <p:cNvSpPr/>
          <p:nvPr/>
        </p:nvSpPr>
        <p:spPr>
          <a:xfrm>
            <a:off x="3256200" y="3455640"/>
            <a:ext cx="252216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47"/>
          <p:cNvSpPr/>
          <p:nvPr/>
        </p:nvSpPr>
        <p:spPr>
          <a:xfrm>
            <a:off x="3256200" y="3519720"/>
            <a:ext cx="2522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148"/>
          <p:cNvSpPr/>
          <p:nvPr/>
        </p:nvSpPr>
        <p:spPr>
          <a:xfrm>
            <a:off x="3256200" y="3775680"/>
            <a:ext cx="2522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⚠  </a:t>
            </a:r>
            <a:r>
              <a:rPr b="0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May fail on clean images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82" name="Text 149"/>
          <p:cNvSpPr/>
          <p:nvPr/>
        </p:nvSpPr>
        <p:spPr>
          <a:xfrm>
            <a:off x="3256200" y="4095720"/>
            <a:ext cx="25221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❓ </a:t>
            </a: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Result unknown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00" spc="-1" strike="noStrike">
              <a:latin typeface="Arial"/>
            </a:endParaRPr>
          </a:p>
        </p:txBody>
      </p:sp>
      <p:sp>
        <p:nvSpPr>
          <p:cNvPr id="283" name="Shape 113"/>
          <p:cNvSpPr/>
          <p:nvPr/>
        </p:nvSpPr>
        <p:spPr>
          <a:xfrm>
            <a:off x="6090840" y="831240"/>
            <a:ext cx="2741760" cy="4067640"/>
          </a:xfrm>
          <a:prstGeom prst="rect">
            <a:avLst/>
          </a:prstGeom>
          <a:solidFill>
            <a:srgbClr val="1a2e44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Shape 115"/>
          <p:cNvSpPr/>
          <p:nvPr/>
        </p:nvSpPr>
        <p:spPr>
          <a:xfrm>
            <a:off x="6090840" y="831240"/>
            <a:ext cx="2741760" cy="50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150"/>
          <p:cNvSpPr/>
          <p:nvPr/>
        </p:nvSpPr>
        <p:spPr>
          <a:xfrm>
            <a:off x="6163920" y="831240"/>
            <a:ext cx="2595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923"/>
                </a:solidFill>
                <a:latin typeface="Georgia"/>
                <a:ea typeface="Georgia"/>
              </a:rPr>
              <a:t>Solution C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86" name="Text 151"/>
          <p:cNvSpPr/>
          <p:nvPr/>
        </p:nvSpPr>
        <p:spPr>
          <a:xfrm>
            <a:off x="6090840" y="137088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Mixed Training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87" name="Text 152"/>
          <p:cNvSpPr/>
          <p:nvPr/>
        </p:nvSpPr>
        <p:spPr>
          <a:xfrm>
            <a:off x="6090840" y="167256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Hybrid approach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88" name="Shape 117"/>
          <p:cNvSpPr/>
          <p:nvPr/>
        </p:nvSpPr>
        <p:spPr>
          <a:xfrm>
            <a:off x="6200280" y="1965240"/>
            <a:ext cx="252216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153"/>
          <p:cNvSpPr/>
          <p:nvPr/>
        </p:nvSpPr>
        <p:spPr>
          <a:xfrm>
            <a:off x="6200280" y="201996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DejaVu Sans"/>
              </a:rPr>
              <a:t>50% clean + 50% degraded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90" name="Text 154"/>
          <p:cNvSpPr/>
          <p:nvPr/>
        </p:nvSpPr>
        <p:spPr>
          <a:xfrm>
            <a:off x="6200280" y="236736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Train MobileNet together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91" name="Text 155"/>
          <p:cNvSpPr/>
          <p:nvPr/>
        </p:nvSpPr>
        <p:spPr>
          <a:xfrm>
            <a:off x="6200280" y="271512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Robust to both inputs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92" name="Text 156"/>
          <p:cNvSpPr/>
          <p:nvPr/>
        </p:nvSpPr>
        <p:spPr>
          <a:xfrm>
            <a:off x="6200280" y="3062520"/>
            <a:ext cx="252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→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One model for all cases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93" name="Shape 119"/>
          <p:cNvSpPr/>
          <p:nvPr/>
        </p:nvSpPr>
        <p:spPr>
          <a:xfrm>
            <a:off x="6200280" y="3455640"/>
            <a:ext cx="252216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57"/>
          <p:cNvSpPr/>
          <p:nvPr/>
        </p:nvSpPr>
        <p:spPr>
          <a:xfrm>
            <a:off x="6200280" y="3519720"/>
            <a:ext cx="2522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58"/>
          <p:cNvSpPr/>
          <p:nvPr/>
        </p:nvSpPr>
        <p:spPr>
          <a:xfrm>
            <a:off x="6200280" y="3775680"/>
            <a:ext cx="2522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⚠  </a:t>
            </a:r>
            <a:r>
              <a:rPr b="0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May compromise peak accuracy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6" name="Text 159"/>
          <p:cNvSpPr/>
          <p:nvPr/>
        </p:nvSpPr>
        <p:spPr>
          <a:xfrm>
            <a:off x="6200280" y="4095720"/>
            <a:ext cx="25221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❓ </a:t>
            </a: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Result unknown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37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41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62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40" strike="noStrike">
                <a:solidFill>
                  <a:srgbClr val="ffffff"/>
                </a:solidFill>
                <a:latin typeface="Calibri"/>
                <a:ea typeface="DejaVu Sans"/>
              </a:rPr>
              <a:t>PILLAR 3  —  APPLICATION &amp; ANOMALY DETECTION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0" name="Text 88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4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258840" y="817560"/>
            <a:ext cx="41133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Baccarat Game Logic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02" name="Shape 57"/>
          <p:cNvSpPr/>
          <p:nvPr/>
        </p:nvSpPr>
        <p:spPr>
          <a:xfrm>
            <a:off x="240480" y="1155960"/>
            <a:ext cx="565560" cy="528840"/>
          </a:xfrm>
          <a:prstGeom prst="rect">
            <a:avLst/>
          </a:prstGeom>
          <a:solidFill>
            <a:srgbClr val="0d9488">
              <a:alpha val="80000"/>
            </a:srgbClr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72"/>
          <p:cNvSpPr/>
          <p:nvPr/>
        </p:nvSpPr>
        <p:spPr>
          <a:xfrm>
            <a:off x="240480" y="1155960"/>
            <a:ext cx="565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4 Cards</a:t>
            </a:r>
            <a:endParaRPr b="0" lang="en-US" sz="7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Dealt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04" name="Shape 59"/>
          <p:cNvSpPr/>
          <p:nvPr/>
        </p:nvSpPr>
        <p:spPr>
          <a:xfrm>
            <a:off x="807480" y="1420920"/>
            <a:ext cx="10944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61"/>
          <p:cNvSpPr/>
          <p:nvPr/>
        </p:nvSpPr>
        <p:spPr>
          <a:xfrm>
            <a:off x="926280" y="1155960"/>
            <a:ext cx="565560" cy="528840"/>
          </a:xfrm>
          <a:prstGeom prst="rect">
            <a:avLst/>
          </a:prstGeom>
          <a:solidFill>
            <a:srgbClr val="0d9488">
              <a:alpha val="80000"/>
            </a:srgbClr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74"/>
          <p:cNvSpPr/>
          <p:nvPr/>
        </p:nvSpPr>
        <p:spPr>
          <a:xfrm>
            <a:off x="926280" y="1155960"/>
            <a:ext cx="565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Classify</a:t>
            </a:r>
            <a:endParaRPr b="0" lang="en-US" sz="7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All 4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07" name="Shape 63"/>
          <p:cNvSpPr/>
          <p:nvPr/>
        </p:nvSpPr>
        <p:spPr>
          <a:xfrm>
            <a:off x="1493280" y="1420920"/>
            <a:ext cx="10944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65"/>
          <p:cNvSpPr/>
          <p:nvPr/>
        </p:nvSpPr>
        <p:spPr>
          <a:xfrm>
            <a:off x="1612080" y="1155960"/>
            <a:ext cx="565560" cy="528840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76"/>
          <p:cNvSpPr/>
          <p:nvPr/>
        </p:nvSpPr>
        <p:spPr>
          <a:xfrm>
            <a:off x="1612080" y="1155960"/>
            <a:ext cx="565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5th Card</a:t>
            </a:r>
            <a:endParaRPr b="0" lang="en-US" sz="7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Needed?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10" name="Shape 67"/>
          <p:cNvSpPr/>
          <p:nvPr/>
        </p:nvSpPr>
        <p:spPr>
          <a:xfrm>
            <a:off x="2179080" y="1420920"/>
            <a:ext cx="10944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69"/>
          <p:cNvSpPr/>
          <p:nvPr/>
        </p:nvSpPr>
        <p:spPr>
          <a:xfrm>
            <a:off x="2297880" y="1155960"/>
            <a:ext cx="565560" cy="528840"/>
          </a:xfrm>
          <a:prstGeom prst="rect">
            <a:avLst/>
          </a:prstGeom>
          <a:solidFill>
            <a:srgbClr val="0d9488">
              <a:alpha val="80000"/>
            </a:srgbClr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78"/>
          <p:cNvSpPr/>
          <p:nvPr/>
        </p:nvSpPr>
        <p:spPr>
          <a:xfrm>
            <a:off x="2297880" y="1155960"/>
            <a:ext cx="565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Classify</a:t>
            </a:r>
            <a:endParaRPr b="0" lang="en-US" sz="7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5th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13" name="Shape 71"/>
          <p:cNvSpPr/>
          <p:nvPr/>
        </p:nvSpPr>
        <p:spPr>
          <a:xfrm>
            <a:off x="2864880" y="1420920"/>
            <a:ext cx="10944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Shape 73"/>
          <p:cNvSpPr/>
          <p:nvPr/>
        </p:nvSpPr>
        <p:spPr>
          <a:xfrm>
            <a:off x="2983680" y="1155960"/>
            <a:ext cx="565560" cy="528840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80"/>
          <p:cNvSpPr/>
          <p:nvPr/>
        </p:nvSpPr>
        <p:spPr>
          <a:xfrm>
            <a:off x="2983680" y="1155960"/>
            <a:ext cx="565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6th Card</a:t>
            </a:r>
            <a:endParaRPr b="0" lang="en-US" sz="7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Needed?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16" name="Shape 75"/>
          <p:cNvSpPr/>
          <p:nvPr/>
        </p:nvSpPr>
        <p:spPr>
          <a:xfrm>
            <a:off x="3550680" y="1420920"/>
            <a:ext cx="10944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77"/>
          <p:cNvSpPr/>
          <p:nvPr/>
        </p:nvSpPr>
        <p:spPr>
          <a:xfrm>
            <a:off x="3669480" y="1155960"/>
            <a:ext cx="565560" cy="52884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82"/>
          <p:cNvSpPr/>
          <p:nvPr/>
        </p:nvSpPr>
        <p:spPr>
          <a:xfrm>
            <a:off x="3669480" y="1155960"/>
            <a:ext cx="565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Final</a:t>
            </a:r>
            <a:endParaRPr b="0" lang="en-US" sz="7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alibri"/>
                <a:ea typeface="DejaVu Sans"/>
              </a:rPr>
              <a:t>Score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19" name="Text 84"/>
          <p:cNvSpPr/>
          <p:nvPr/>
        </p:nvSpPr>
        <p:spPr>
          <a:xfrm>
            <a:off x="240480" y="1731960"/>
            <a:ext cx="4021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Max 2-3 classifications per game round (not every frame)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0" name="Text 86"/>
          <p:cNvSpPr/>
          <p:nvPr/>
        </p:nvSpPr>
        <p:spPr>
          <a:xfrm>
            <a:off x="258840" y="2070360"/>
            <a:ext cx="41133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444"/>
                </a:solidFill>
                <a:latin typeface="Calibri"/>
                <a:ea typeface="DejaVu Sans"/>
              </a:rPr>
              <a:t>Simulated Anomaly Scenarios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1" name="Shape 79"/>
          <p:cNvSpPr/>
          <p:nvPr/>
        </p:nvSpPr>
        <p:spPr>
          <a:xfrm>
            <a:off x="258840" y="2417760"/>
            <a:ext cx="1900440" cy="657000"/>
          </a:xfrm>
          <a:prstGeom prst="rect">
            <a:avLst/>
          </a:prstGeom>
          <a:solidFill>
            <a:srgbClr val="1a2e44"/>
          </a:solidFill>
          <a:ln w="1270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2" name="Text 90"/>
          <p:cNvSpPr/>
          <p:nvPr/>
        </p:nvSpPr>
        <p:spPr>
          <a:xfrm>
            <a:off x="258840" y="2417760"/>
            <a:ext cx="5014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3" name="Text 92"/>
          <p:cNvSpPr/>
          <p:nvPr/>
        </p:nvSpPr>
        <p:spPr>
          <a:xfrm>
            <a:off x="761760" y="245448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Wrong card count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4" name="Text 94"/>
          <p:cNvSpPr/>
          <p:nvPr/>
        </p:nvSpPr>
        <p:spPr>
          <a:xfrm>
            <a:off x="761760" y="2710440"/>
            <a:ext cx="1370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3 cards dealt instead of 2 at Player position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25" name="Shape 81"/>
          <p:cNvSpPr/>
          <p:nvPr/>
        </p:nvSpPr>
        <p:spPr>
          <a:xfrm>
            <a:off x="2343600" y="2417760"/>
            <a:ext cx="1900440" cy="657000"/>
          </a:xfrm>
          <a:prstGeom prst="rect">
            <a:avLst/>
          </a:prstGeom>
          <a:solidFill>
            <a:srgbClr val="1a2e44"/>
          </a:solidFill>
          <a:ln w="1270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6" name="Text 96"/>
          <p:cNvSpPr/>
          <p:nvPr/>
        </p:nvSpPr>
        <p:spPr>
          <a:xfrm>
            <a:off x="2343600" y="2417760"/>
            <a:ext cx="5014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🔄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7" name="Text 98"/>
          <p:cNvSpPr/>
          <p:nvPr/>
        </p:nvSpPr>
        <p:spPr>
          <a:xfrm>
            <a:off x="2846520" y="245448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Card substitution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8" name="Text 100"/>
          <p:cNvSpPr/>
          <p:nvPr/>
        </p:nvSpPr>
        <p:spPr>
          <a:xfrm>
            <a:off x="2846520" y="2710440"/>
            <a:ext cx="1370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9♠ swapped for 3♠ after initial detection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29" name="Shape 83"/>
          <p:cNvSpPr/>
          <p:nvPr/>
        </p:nvSpPr>
        <p:spPr>
          <a:xfrm>
            <a:off x="258840" y="3195000"/>
            <a:ext cx="1900440" cy="657000"/>
          </a:xfrm>
          <a:prstGeom prst="rect">
            <a:avLst/>
          </a:prstGeom>
          <a:solidFill>
            <a:srgbClr val="1a2e44"/>
          </a:solidFill>
          <a:ln w="1270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Text 102"/>
          <p:cNvSpPr/>
          <p:nvPr/>
        </p:nvSpPr>
        <p:spPr>
          <a:xfrm>
            <a:off x="258840" y="3195000"/>
            <a:ext cx="5014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🧮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1" name="Text 104"/>
          <p:cNvSpPr/>
          <p:nvPr/>
        </p:nvSpPr>
        <p:spPr>
          <a:xfrm>
            <a:off x="761760" y="323172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Score mismatch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2" name="Text 106"/>
          <p:cNvSpPr/>
          <p:nvPr/>
        </p:nvSpPr>
        <p:spPr>
          <a:xfrm>
            <a:off x="761760" y="3487680"/>
            <a:ext cx="1370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Cards sum to 7 but dealer calls 8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33" name="Shape 85"/>
          <p:cNvSpPr/>
          <p:nvPr/>
        </p:nvSpPr>
        <p:spPr>
          <a:xfrm>
            <a:off x="2343600" y="3195000"/>
            <a:ext cx="1900440" cy="657000"/>
          </a:xfrm>
          <a:prstGeom prst="rect">
            <a:avLst/>
          </a:prstGeom>
          <a:solidFill>
            <a:srgbClr val="1a2e44"/>
          </a:solidFill>
          <a:ln w="1270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4" name="Text 108"/>
          <p:cNvSpPr/>
          <p:nvPr/>
        </p:nvSpPr>
        <p:spPr>
          <a:xfrm>
            <a:off x="2343600" y="3195000"/>
            <a:ext cx="5014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✋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5" name="Text 110"/>
          <p:cNvSpPr/>
          <p:nvPr/>
        </p:nvSpPr>
        <p:spPr>
          <a:xfrm>
            <a:off x="2846520" y="323172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Card concealment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6" name="Text 112"/>
          <p:cNvSpPr/>
          <p:nvPr/>
        </p:nvSpPr>
        <p:spPr>
          <a:xfrm>
            <a:off x="2846520" y="3487680"/>
            <a:ext cx="1370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Card disappears — count decreases unexpectedly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37" name="Shape 87"/>
          <p:cNvSpPr/>
          <p:nvPr/>
        </p:nvSpPr>
        <p:spPr>
          <a:xfrm>
            <a:off x="4556520" y="844920"/>
            <a:ext cx="4314600" cy="3976200"/>
          </a:xfrm>
          <a:prstGeom prst="rect">
            <a:avLst/>
          </a:prstGeom>
          <a:solidFill>
            <a:srgbClr val="1a2e44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8" name="Shape 89"/>
          <p:cNvSpPr/>
          <p:nvPr/>
        </p:nvSpPr>
        <p:spPr>
          <a:xfrm>
            <a:off x="4556520" y="844920"/>
            <a:ext cx="4314600" cy="382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114"/>
          <p:cNvSpPr/>
          <p:nvPr/>
        </p:nvSpPr>
        <p:spPr>
          <a:xfrm>
            <a:off x="4629600" y="844920"/>
            <a:ext cx="4168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923"/>
                </a:solidFill>
                <a:latin typeface="Calibri"/>
                <a:ea typeface="DejaVu Sans"/>
              </a:rPr>
              <a:t>Experiment Reporting Plan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0" name="Shape 91"/>
          <p:cNvSpPr/>
          <p:nvPr/>
        </p:nvSpPr>
        <p:spPr>
          <a:xfrm>
            <a:off x="4666320" y="1366200"/>
            <a:ext cx="4095000" cy="455760"/>
          </a:xfrm>
          <a:prstGeom prst="rect">
            <a:avLst/>
          </a:prstGeom>
          <a:solidFill>
            <a:srgbClr val="0f1923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116"/>
          <p:cNvSpPr/>
          <p:nvPr/>
        </p:nvSpPr>
        <p:spPr>
          <a:xfrm>
            <a:off x="4757760" y="1366200"/>
            <a:ext cx="2558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Games simulated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2" name="Text 118"/>
          <p:cNvSpPr/>
          <p:nvPr/>
        </p:nvSpPr>
        <p:spPr>
          <a:xfrm>
            <a:off x="6933960" y="1366200"/>
            <a:ext cx="1644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9488"/>
                </a:solidFill>
                <a:latin typeface="Georgia"/>
                <a:ea typeface="Georgia"/>
              </a:rPr>
              <a:t>30 – 100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3" name="Shape 93"/>
          <p:cNvSpPr/>
          <p:nvPr/>
        </p:nvSpPr>
        <p:spPr>
          <a:xfrm>
            <a:off x="4666320" y="1933200"/>
            <a:ext cx="4095000" cy="455760"/>
          </a:xfrm>
          <a:prstGeom prst="rect">
            <a:avLst/>
          </a:prstGeom>
          <a:solidFill>
            <a:srgbClr val="0f1923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120"/>
          <p:cNvSpPr/>
          <p:nvPr/>
        </p:nvSpPr>
        <p:spPr>
          <a:xfrm>
            <a:off x="4757760" y="1933200"/>
            <a:ext cx="2558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Anomaly events introduced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5" name="Text 122"/>
          <p:cNvSpPr/>
          <p:nvPr/>
        </p:nvSpPr>
        <p:spPr>
          <a:xfrm>
            <a:off x="6933960" y="1933200"/>
            <a:ext cx="1644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9e0b"/>
                </a:solidFill>
                <a:latin typeface="Georgia"/>
                <a:ea typeface="Georgia"/>
              </a:rPr>
              <a:t>~5 per run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6" name="Shape 95"/>
          <p:cNvSpPr/>
          <p:nvPr/>
        </p:nvSpPr>
        <p:spPr>
          <a:xfrm>
            <a:off x="4666320" y="2500200"/>
            <a:ext cx="4095000" cy="455760"/>
          </a:xfrm>
          <a:prstGeom prst="rect">
            <a:avLst/>
          </a:prstGeom>
          <a:solidFill>
            <a:srgbClr val="0f1923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125"/>
          <p:cNvSpPr/>
          <p:nvPr/>
        </p:nvSpPr>
        <p:spPr>
          <a:xfrm>
            <a:off x="4757760" y="2500200"/>
            <a:ext cx="2558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Detection rate target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8" name="Text 127"/>
          <p:cNvSpPr/>
          <p:nvPr/>
        </p:nvSpPr>
        <p:spPr>
          <a:xfrm>
            <a:off x="6933960" y="2500200"/>
            <a:ext cx="1644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Georgia"/>
                <a:ea typeface="Georgia"/>
              </a:rPr>
              <a:t>5 / 5 (100%)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9" name="Shape 97"/>
          <p:cNvSpPr/>
          <p:nvPr/>
        </p:nvSpPr>
        <p:spPr>
          <a:xfrm>
            <a:off x="4666320" y="3066840"/>
            <a:ext cx="4095000" cy="455760"/>
          </a:xfrm>
          <a:prstGeom prst="rect">
            <a:avLst/>
          </a:prstGeom>
          <a:solidFill>
            <a:srgbClr val="0f1923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128"/>
          <p:cNvSpPr/>
          <p:nvPr/>
        </p:nvSpPr>
        <p:spPr>
          <a:xfrm>
            <a:off x="4757760" y="3066840"/>
            <a:ext cx="2558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False positive rate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1" name="Text 129"/>
          <p:cNvSpPr/>
          <p:nvPr/>
        </p:nvSpPr>
        <p:spPr>
          <a:xfrm>
            <a:off x="6933960" y="3066840"/>
            <a:ext cx="1644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Georgia"/>
                <a:ea typeface="Georgia"/>
              </a:rPr>
              <a:t>&lt; 5%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2" name="Shape 99"/>
          <p:cNvSpPr/>
          <p:nvPr/>
        </p:nvSpPr>
        <p:spPr>
          <a:xfrm>
            <a:off x="4666320" y="3679560"/>
            <a:ext cx="4095000" cy="1004400"/>
          </a:xfrm>
          <a:prstGeom prst="rect">
            <a:avLst/>
          </a:prstGeom>
          <a:solidFill>
            <a:srgbClr val="0d152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132"/>
          <p:cNvSpPr/>
          <p:nvPr/>
        </p:nvSpPr>
        <p:spPr>
          <a:xfrm>
            <a:off x="4757760" y="3716280"/>
            <a:ext cx="3912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d9488"/>
                </a:solidFill>
                <a:latin typeface="Calibri"/>
                <a:ea typeface="DejaVu Sans"/>
              </a:rPr>
              <a:t>Why small dataset is acceptable: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54" name="Text 133"/>
          <p:cNvSpPr/>
          <p:nvPr/>
        </p:nvSpPr>
        <p:spPr>
          <a:xfrm>
            <a:off x="4757760" y="3972240"/>
            <a:ext cx="391212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Proof of concept demonstration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System architecture validation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Failure case identification for future work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47"/>
          <p:cNvSpPr/>
          <p:nvPr/>
        </p:nvSpPr>
        <p:spPr>
          <a:xfrm>
            <a:off x="108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Shape 49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 64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RESEARCH STEPS – Can Finish project in 1/1.5 months if after have data)                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58" name="Text 66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4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59" name="Shape 23"/>
          <p:cNvSpPr/>
          <p:nvPr/>
        </p:nvSpPr>
        <p:spPr>
          <a:xfrm>
            <a:off x="391320" y="1183320"/>
            <a:ext cx="8228160" cy="5328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31"/>
          <p:cNvSpPr/>
          <p:nvPr/>
        </p:nvSpPr>
        <p:spPr>
          <a:xfrm>
            <a:off x="1195920" y="1101240"/>
            <a:ext cx="218160" cy="218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Shape 43"/>
          <p:cNvSpPr/>
          <p:nvPr/>
        </p:nvSpPr>
        <p:spPr>
          <a:xfrm>
            <a:off x="391320" y="1430280"/>
            <a:ext cx="1918800" cy="3290400"/>
          </a:xfrm>
          <a:prstGeom prst="rect">
            <a:avLst/>
          </a:prstGeom>
          <a:solidFill>
            <a:srgbClr val="1a2e44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2" name="Shape 123"/>
          <p:cNvSpPr/>
          <p:nvPr/>
        </p:nvSpPr>
        <p:spPr>
          <a:xfrm>
            <a:off x="391320" y="1430280"/>
            <a:ext cx="1918800" cy="34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26"/>
          <p:cNvSpPr/>
          <p:nvPr/>
        </p:nvSpPr>
        <p:spPr>
          <a:xfrm>
            <a:off x="391320" y="143028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40"/>
          <p:cNvSpPr/>
          <p:nvPr/>
        </p:nvSpPr>
        <p:spPr>
          <a:xfrm>
            <a:off x="391320" y="18234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alibri"/>
                <a:ea typeface="DejaVu Sans"/>
              </a:rPr>
              <a:t>Phase 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65" name="Text 48"/>
          <p:cNvSpPr/>
          <p:nvPr/>
        </p:nvSpPr>
        <p:spPr>
          <a:xfrm>
            <a:off x="391320" y="206136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Data Preparation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6" name="Shape 124"/>
          <p:cNvSpPr/>
          <p:nvPr/>
        </p:nvSpPr>
        <p:spPr>
          <a:xfrm>
            <a:off x="528480" y="2445120"/>
            <a:ext cx="164448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160"/>
          <p:cNvSpPr/>
          <p:nvPr/>
        </p:nvSpPr>
        <p:spPr>
          <a:xfrm>
            <a:off x="501120" y="250020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Collect 53-class dataset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from CCTV videos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68" name="Text 161"/>
          <p:cNvSpPr/>
          <p:nvPr/>
        </p:nvSpPr>
        <p:spPr>
          <a:xfrm>
            <a:off x="501120" y="315864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Balance class distribution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with augmentation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69" name="Text 162"/>
          <p:cNvSpPr/>
          <p:nvPr/>
        </p:nvSpPr>
        <p:spPr>
          <a:xfrm>
            <a:off x="501120" y="381672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Compute dataset mean/std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for normalization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70" name="Shape 125"/>
          <p:cNvSpPr/>
          <p:nvPr/>
        </p:nvSpPr>
        <p:spPr>
          <a:xfrm>
            <a:off x="3253320" y="1101240"/>
            <a:ext cx="218160" cy="218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Shape 126"/>
          <p:cNvSpPr/>
          <p:nvPr/>
        </p:nvSpPr>
        <p:spPr>
          <a:xfrm>
            <a:off x="2448720" y="1430280"/>
            <a:ext cx="1918800" cy="3290400"/>
          </a:xfrm>
          <a:prstGeom prst="rect">
            <a:avLst/>
          </a:prstGeom>
          <a:solidFill>
            <a:srgbClr val="1a2e44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2" name="Shape 130"/>
          <p:cNvSpPr/>
          <p:nvPr/>
        </p:nvSpPr>
        <p:spPr>
          <a:xfrm>
            <a:off x="2448720" y="1430280"/>
            <a:ext cx="1918800" cy="34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163"/>
          <p:cNvSpPr/>
          <p:nvPr/>
        </p:nvSpPr>
        <p:spPr>
          <a:xfrm>
            <a:off x="2448720" y="143028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164"/>
          <p:cNvSpPr/>
          <p:nvPr/>
        </p:nvSpPr>
        <p:spPr>
          <a:xfrm>
            <a:off x="2448720" y="18234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Phase 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75" name="Text 165"/>
          <p:cNvSpPr/>
          <p:nvPr/>
        </p:nvSpPr>
        <p:spPr>
          <a:xfrm>
            <a:off x="2448720" y="206136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Pillar 1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Experiments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6" name="Shape 131"/>
          <p:cNvSpPr/>
          <p:nvPr/>
        </p:nvSpPr>
        <p:spPr>
          <a:xfrm>
            <a:off x="2585880" y="2445120"/>
            <a:ext cx="164448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166"/>
          <p:cNvSpPr/>
          <p:nvPr/>
        </p:nvSpPr>
        <p:spPr>
          <a:xfrm>
            <a:off x="2558520" y="250020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Compression sweep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JPEG 100→5%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78" name="Text 167"/>
          <p:cNvSpPr/>
          <p:nvPr/>
        </p:nvSpPr>
        <p:spPr>
          <a:xfrm>
            <a:off x="2558520" y="315864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Per-class accuracy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curve generation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79" name="Text 168"/>
          <p:cNvSpPr/>
          <p:nvPr/>
        </p:nvSpPr>
        <p:spPr>
          <a:xfrm>
            <a:off x="2558520" y="381672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Breaking point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identification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80" name="Shape 132"/>
          <p:cNvSpPr/>
          <p:nvPr/>
        </p:nvSpPr>
        <p:spPr>
          <a:xfrm>
            <a:off x="5310720" y="1101240"/>
            <a:ext cx="218160" cy="218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Shape 133"/>
          <p:cNvSpPr/>
          <p:nvPr/>
        </p:nvSpPr>
        <p:spPr>
          <a:xfrm>
            <a:off x="4506120" y="1430280"/>
            <a:ext cx="1918800" cy="3290400"/>
          </a:xfrm>
          <a:prstGeom prst="rect">
            <a:avLst/>
          </a:prstGeom>
          <a:solidFill>
            <a:srgbClr val="1a2e44"/>
          </a:solidFill>
          <a:ln w="1905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2" name="Shape 134"/>
          <p:cNvSpPr/>
          <p:nvPr/>
        </p:nvSpPr>
        <p:spPr>
          <a:xfrm>
            <a:off x="4506120" y="1430280"/>
            <a:ext cx="1918800" cy="345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Text 169"/>
          <p:cNvSpPr/>
          <p:nvPr/>
        </p:nvSpPr>
        <p:spPr>
          <a:xfrm>
            <a:off x="4506120" y="143028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170"/>
          <p:cNvSpPr/>
          <p:nvPr/>
        </p:nvSpPr>
        <p:spPr>
          <a:xfrm>
            <a:off x="4506120" y="18234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f4444"/>
                </a:solidFill>
                <a:latin typeface="Calibri"/>
                <a:ea typeface="DejaVu Sans"/>
              </a:rPr>
              <a:t>Phase 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85" name="Text 171"/>
          <p:cNvSpPr/>
          <p:nvPr/>
        </p:nvSpPr>
        <p:spPr>
          <a:xfrm>
            <a:off x="4506120" y="206136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Pillar 2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Solutions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6" name="Shape 135"/>
          <p:cNvSpPr/>
          <p:nvPr/>
        </p:nvSpPr>
        <p:spPr>
          <a:xfrm>
            <a:off x="4643280" y="2445120"/>
            <a:ext cx="164448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Text 172"/>
          <p:cNvSpPr/>
          <p:nvPr/>
        </p:nvSpPr>
        <p:spPr>
          <a:xfrm>
            <a:off x="4615920" y="250020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Test 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88" name="Text 173"/>
          <p:cNvSpPr/>
          <p:nvPr/>
        </p:nvSpPr>
        <p:spPr>
          <a:xfrm>
            <a:off x="4615920" y="315864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Retrain MobileNet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on degraded data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89" name="Text 174"/>
          <p:cNvSpPr/>
          <p:nvPr/>
        </p:nvSpPr>
        <p:spPr>
          <a:xfrm>
            <a:off x="4615920" y="381672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Mixed training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experiments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90" name="Shape 136"/>
          <p:cNvSpPr/>
          <p:nvPr/>
        </p:nvSpPr>
        <p:spPr>
          <a:xfrm>
            <a:off x="7368120" y="1101240"/>
            <a:ext cx="218160" cy="218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Shape 137"/>
          <p:cNvSpPr/>
          <p:nvPr/>
        </p:nvSpPr>
        <p:spPr>
          <a:xfrm>
            <a:off x="6563520" y="1430280"/>
            <a:ext cx="1918800" cy="3290400"/>
          </a:xfrm>
          <a:prstGeom prst="rect">
            <a:avLst/>
          </a:prstGeom>
          <a:solidFill>
            <a:srgbClr val="1a2e44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2" name="Shape 138"/>
          <p:cNvSpPr/>
          <p:nvPr/>
        </p:nvSpPr>
        <p:spPr>
          <a:xfrm>
            <a:off x="6563520" y="1430280"/>
            <a:ext cx="1918800" cy="34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Text 175"/>
          <p:cNvSpPr/>
          <p:nvPr/>
        </p:nvSpPr>
        <p:spPr>
          <a:xfrm>
            <a:off x="6563520" y="143028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76"/>
          <p:cNvSpPr/>
          <p:nvPr/>
        </p:nvSpPr>
        <p:spPr>
          <a:xfrm>
            <a:off x="6563520" y="18234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0b981"/>
                </a:solidFill>
                <a:latin typeface="Calibri"/>
                <a:ea typeface="DejaVu Sans"/>
              </a:rPr>
              <a:t>Phase 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95" name="Text 177"/>
          <p:cNvSpPr/>
          <p:nvPr/>
        </p:nvSpPr>
        <p:spPr>
          <a:xfrm>
            <a:off x="6563520" y="2061360"/>
            <a:ext cx="1918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Pillar 3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Application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6" name="Shape 139"/>
          <p:cNvSpPr/>
          <p:nvPr/>
        </p:nvSpPr>
        <p:spPr>
          <a:xfrm>
            <a:off x="6700680" y="2445120"/>
            <a:ext cx="1644480" cy="16920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178"/>
          <p:cNvSpPr/>
          <p:nvPr/>
        </p:nvSpPr>
        <p:spPr>
          <a:xfrm>
            <a:off x="6673320" y="250020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Simulate cheating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scenarios (30-100)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98" name="Text 179"/>
          <p:cNvSpPr/>
          <p:nvPr/>
        </p:nvSpPr>
        <p:spPr>
          <a:xfrm>
            <a:off x="6673320" y="315864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Measure detection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rate &amp; false pos.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99" name="Text 180"/>
          <p:cNvSpPr/>
          <p:nvPr/>
        </p:nvSpPr>
        <p:spPr>
          <a:xfrm>
            <a:off x="6673320" y="3816720"/>
            <a:ext cx="1717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·  Rockchip embedded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deployment test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146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Shape 147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Text 184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Problems   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03" name="Text 185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6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914400" y="1818720"/>
            <a:ext cx="6400440" cy="16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1. Data I have is not enough. I have only 31 classes but still mission 22 classes. No data so cant apply augmentation.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000"/>
            </a:b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2. Super-resulation might not be efficent for Rockchip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 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1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2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Research Paper Summary          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08" name="Text 11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6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09" name="Text 237"/>
          <p:cNvSpPr/>
          <p:nvPr/>
        </p:nvSpPr>
        <p:spPr>
          <a:xfrm>
            <a:off x="408240" y="812160"/>
            <a:ext cx="6582600" cy="17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Calibri"/>
                <a:ea typeface="Calibri"/>
              </a:rPr>
              <a:t>Impact of Image Compression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Calibri"/>
                <a:ea typeface="Calibri"/>
              </a:rPr>
              <a:t>on CNN Classification Performance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0" name="Text 238"/>
          <p:cNvSpPr/>
          <p:nvPr/>
        </p:nvSpPr>
        <p:spPr>
          <a:xfrm>
            <a:off x="408240" y="2640960"/>
            <a:ext cx="65826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Steel Surface Defect Classification  ·  NEU Dataset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1" name="Text 239"/>
          <p:cNvSpPr/>
          <p:nvPr/>
        </p:nvSpPr>
        <p:spPr>
          <a:xfrm>
            <a:off x="408240" y="3116520"/>
            <a:ext cx="8228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000000"/>
                </a:solidFill>
                <a:latin typeface="Calibri"/>
                <a:ea typeface="Calibri"/>
              </a:rPr>
              <a:t>Benbarrad et al.  ·  J. Sensor &amp; Actuator Networks 2021  ·  DOI: 10.3390/jsan10040073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12" name="Shape 191"/>
          <p:cNvSpPr/>
          <p:nvPr/>
        </p:nvSpPr>
        <p:spPr>
          <a:xfrm>
            <a:off x="408240" y="3025080"/>
            <a:ext cx="3473640" cy="3564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14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Shape 141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28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92" strike="noStrike">
                <a:solidFill>
                  <a:srgbClr val="ffffff"/>
                </a:solidFill>
                <a:latin typeface="Calibri"/>
                <a:ea typeface="Calibri"/>
              </a:rPr>
              <a:t>DATASET, SETUP &amp; EXPERIMENTAL DESIGN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16" name="Text 32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6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7" name="Shape 150"/>
          <p:cNvSpPr/>
          <p:nvPr/>
        </p:nvSpPr>
        <p:spPr>
          <a:xfrm>
            <a:off x="256320" y="731160"/>
            <a:ext cx="1992240" cy="12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8" name="Shape 151"/>
          <p:cNvSpPr/>
          <p:nvPr/>
        </p:nvSpPr>
        <p:spPr>
          <a:xfrm>
            <a:off x="256320" y="731160"/>
            <a:ext cx="1992240" cy="63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Text 188"/>
          <p:cNvSpPr/>
          <p:nvPr/>
        </p:nvSpPr>
        <p:spPr>
          <a:xfrm>
            <a:off x="256320" y="795240"/>
            <a:ext cx="1992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e86c1"/>
                </a:solidFill>
                <a:latin typeface="Calibri"/>
                <a:ea typeface="Calibri"/>
              </a:rPr>
              <a:t>1,800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20" name="Text 189"/>
          <p:cNvSpPr/>
          <p:nvPr/>
        </p:nvSpPr>
        <p:spPr>
          <a:xfrm>
            <a:off x="256320" y="1334880"/>
            <a:ext cx="1992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Images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1" name="Text 190"/>
          <p:cNvSpPr/>
          <p:nvPr/>
        </p:nvSpPr>
        <p:spPr>
          <a:xfrm>
            <a:off x="256320" y="1609200"/>
            <a:ext cx="1992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NEU steel defects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22" name="Shape 152"/>
          <p:cNvSpPr/>
          <p:nvPr/>
        </p:nvSpPr>
        <p:spPr>
          <a:xfrm>
            <a:off x="2432520" y="731160"/>
            <a:ext cx="1992240" cy="12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3" name="Shape 153"/>
          <p:cNvSpPr/>
          <p:nvPr/>
        </p:nvSpPr>
        <p:spPr>
          <a:xfrm>
            <a:off x="2432520" y="731160"/>
            <a:ext cx="1992240" cy="6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191"/>
          <p:cNvSpPr/>
          <p:nvPr/>
        </p:nvSpPr>
        <p:spPr>
          <a:xfrm>
            <a:off x="2432520" y="795240"/>
            <a:ext cx="1992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abc9c"/>
                </a:solidFill>
                <a:latin typeface="Calibri"/>
                <a:ea typeface="Calibri"/>
              </a:rPr>
              <a:t>6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25" name="Text 192"/>
          <p:cNvSpPr/>
          <p:nvPr/>
        </p:nvSpPr>
        <p:spPr>
          <a:xfrm>
            <a:off x="2432520" y="1334880"/>
            <a:ext cx="1992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Classes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6" name="Text 193"/>
          <p:cNvSpPr/>
          <p:nvPr/>
        </p:nvSpPr>
        <p:spPr>
          <a:xfrm>
            <a:off x="2432520" y="1609200"/>
            <a:ext cx="1992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Cr·In·Pa·PS·RS·Sc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27" name="Shape 154"/>
          <p:cNvSpPr/>
          <p:nvPr/>
        </p:nvSpPr>
        <p:spPr>
          <a:xfrm>
            <a:off x="4608720" y="731160"/>
            <a:ext cx="1992240" cy="12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8" name="Shape 155"/>
          <p:cNvSpPr/>
          <p:nvPr/>
        </p:nvSpPr>
        <p:spPr>
          <a:xfrm>
            <a:off x="4608720" y="731160"/>
            <a:ext cx="1992240" cy="6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194"/>
          <p:cNvSpPr/>
          <p:nvPr/>
        </p:nvSpPr>
        <p:spPr>
          <a:xfrm>
            <a:off x="4608720" y="795240"/>
            <a:ext cx="1992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e67e22"/>
                </a:solidFill>
                <a:latin typeface="Calibri"/>
                <a:ea typeface="Calibri"/>
              </a:rPr>
              <a:t>7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30" name="Text 195"/>
          <p:cNvSpPr/>
          <p:nvPr/>
        </p:nvSpPr>
        <p:spPr>
          <a:xfrm>
            <a:off x="4608720" y="1334880"/>
            <a:ext cx="1992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JPEG Levels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1" name="Text 196"/>
          <p:cNvSpPr/>
          <p:nvPr/>
        </p:nvSpPr>
        <p:spPr>
          <a:xfrm>
            <a:off x="4608720" y="1609200"/>
            <a:ext cx="1992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Quality 5 → 60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32" name="Shape 156"/>
          <p:cNvSpPr/>
          <p:nvPr/>
        </p:nvSpPr>
        <p:spPr>
          <a:xfrm>
            <a:off x="6785280" y="731160"/>
            <a:ext cx="1992240" cy="12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3" name="Shape 157"/>
          <p:cNvSpPr/>
          <p:nvPr/>
        </p:nvSpPr>
        <p:spPr>
          <a:xfrm>
            <a:off x="6785280" y="731160"/>
            <a:ext cx="1992240" cy="6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Text 197"/>
          <p:cNvSpPr/>
          <p:nvPr/>
        </p:nvSpPr>
        <p:spPr>
          <a:xfrm>
            <a:off x="6785280" y="795240"/>
            <a:ext cx="1992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c0392b"/>
                </a:solidFill>
                <a:latin typeface="Calibri"/>
                <a:ea typeface="Calibri"/>
              </a:rPr>
              <a:t>3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35" name="Text 198"/>
          <p:cNvSpPr/>
          <p:nvPr/>
        </p:nvSpPr>
        <p:spPr>
          <a:xfrm>
            <a:off x="6785280" y="1334880"/>
            <a:ext cx="1992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CNN Models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6" name="Text 199"/>
          <p:cNvSpPr/>
          <p:nvPr/>
        </p:nvSpPr>
        <p:spPr>
          <a:xfrm>
            <a:off x="6785280" y="1609200"/>
            <a:ext cx="1992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CNN3·VGG16·MobileNet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37" name="Text 200"/>
          <p:cNvSpPr/>
          <p:nvPr/>
        </p:nvSpPr>
        <p:spPr>
          <a:xfrm>
            <a:off x="256320" y="2139480"/>
            <a:ext cx="8594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92" strike="noStrike">
                <a:solidFill>
                  <a:srgbClr val="0b1f3a"/>
                </a:solidFill>
                <a:latin typeface="Calibri"/>
                <a:ea typeface="Calibri"/>
              </a:rPr>
              <a:t>THREE EXPERIMENTS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38" name="Shape 158"/>
          <p:cNvSpPr/>
          <p:nvPr/>
        </p:nvSpPr>
        <p:spPr>
          <a:xfrm>
            <a:off x="256320" y="2505240"/>
            <a:ext cx="2769480" cy="242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9" name="Shape 159"/>
          <p:cNvSpPr/>
          <p:nvPr/>
        </p:nvSpPr>
        <p:spPr>
          <a:xfrm>
            <a:off x="256320" y="2505240"/>
            <a:ext cx="2769480" cy="474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Text 201"/>
          <p:cNvSpPr/>
          <p:nvPr/>
        </p:nvSpPr>
        <p:spPr>
          <a:xfrm>
            <a:off x="366120" y="2505240"/>
            <a:ext cx="2559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EXP 01  ·  Same Quality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441" name="Shape 160"/>
          <p:cNvSpPr/>
          <p:nvPr/>
        </p:nvSpPr>
        <p:spPr>
          <a:xfrm>
            <a:off x="366120" y="3053880"/>
            <a:ext cx="2559240" cy="474480"/>
          </a:xfrm>
          <a:prstGeom prst="rect">
            <a:avLst/>
          </a:prstGeom>
          <a:solidFill>
            <a:srgbClr val="2e86c1">
              <a:alpha val="12000"/>
            </a:srgbClr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202"/>
          <p:cNvSpPr/>
          <p:nvPr/>
        </p:nvSpPr>
        <p:spPr>
          <a:xfrm>
            <a:off x="439200" y="3053880"/>
            <a:ext cx="24130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2c3e50"/>
                </a:solidFill>
                <a:latin typeface="Calibri"/>
                <a:ea typeface="Calibri"/>
              </a:rPr>
              <a:t>Train &amp; test at same JPEG level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43" name="Text 203"/>
          <p:cNvSpPr/>
          <p:nvPr/>
        </p:nvSpPr>
        <p:spPr>
          <a:xfrm>
            <a:off x="366120" y="3620880"/>
            <a:ext cx="25592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All models stable across Q1–Q7. No accuracy loss.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44" name="Shape 161"/>
          <p:cNvSpPr/>
          <p:nvPr/>
        </p:nvSpPr>
        <p:spPr>
          <a:xfrm>
            <a:off x="366120" y="4663080"/>
            <a:ext cx="913320" cy="218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204"/>
          <p:cNvSpPr/>
          <p:nvPr/>
        </p:nvSpPr>
        <p:spPr>
          <a:xfrm>
            <a:off x="366120" y="4663080"/>
            <a:ext cx="9133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43" strike="noStrike">
                <a:solidFill>
                  <a:srgbClr val="ffffff"/>
                </a:solidFill>
                <a:latin typeface="Calibri"/>
                <a:ea typeface="Calibri"/>
              </a:rPr>
              <a:t>STABLE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6" name="Shape 162"/>
          <p:cNvSpPr/>
          <p:nvPr/>
        </p:nvSpPr>
        <p:spPr>
          <a:xfrm>
            <a:off x="3209760" y="2505240"/>
            <a:ext cx="2769480" cy="242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7" name="Shape 163"/>
          <p:cNvSpPr/>
          <p:nvPr/>
        </p:nvSpPr>
        <p:spPr>
          <a:xfrm>
            <a:off x="3209760" y="2505240"/>
            <a:ext cx="2769480" cy="474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205"/>
          <p:cNvSpPr/>
          <p:nvPr/>
        </p:nvSpPr>
        <p:spPr>
          <a:xfrm>
            <a:off x="3319560" y="2505240"/>
            <a:ext cx="2559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EXP 02  ·  Different Quality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449" name="Shape 164"/>
          <p:cNvSpPr/>
          <p:nvPr/>
        </p:nvSpPr>
        <p:spPr>
          <a:xfrm>
            <a:off x="3319560" y="3053880"/>
            <a:ext cx="2559240" cy="47448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206"/>
          <p:cNvSpPr/>
          <p:nvPr/>
        </p:nvSpPr>
        <p:spPr>
          <a:xfrm>
            <a:off x="3392640" y="3053880"/>
            <a:ext cx="24130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2c3e50"/>
                </a:solidFill>
                <a:latin typeface="Calibri"/>
                <a:ea typeface="Calibri"/>
              </a:rPr>
              <a:t>Train at one quality, test at others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51" name="Text 207"/>
          <p:cNvSpPr/>
          <p:nvPr/>
        </p:nvSpPr>
        <p:spPr>
          <a:xfrm>
            <a:off x="3319560" y="3620880"/>
            <a:ext cx="25592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Large drops at mismatched quality. MobileNet fell to 44% F1.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52" name="Shape 165"/>
          <p:cNvSpPr/>
          <p:nvPr/>
        </p:nvSpPr>
        <p:spPr>
          <a:xfrm>
            <a:off x="3319560" y="4663080"/>
            <a:ext cx="913320" cy="218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Text 208"/>
          <p:cNvSpPr/>
          <p:nvPr/>
        </p:nvSpPr>
        <p:spPr>
          <a:xfrm>
            <a:off x="3319560" y="4663080"/>
            <a:ext cx="9133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43" strike="noStrike">
                <a:solidFill>
                  <a:srgbClr val="ffffff"/>
                </a:solidFill>
                <a:latin typeface="Calibri"/>
                <a:ea typeface="Calibri"/>
              </a:rPr>
              <a:t>DROPS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4" name="Shape 166"/>
          <p:cNvSpPr/>
          <p:nvPr/>
        </p:nvSpPr>
        <p:spPr>
          <a:xfrm>
            <a:off x="6163200" y="2505240"/>
            <a:ext cx="2769480" cy="242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5" name="Shape 167"/>
          <p:cNvSpPr/>
          <p:nvPr/>
        </p:nvSpPr>
        <p:spPr>
          <a:xfrm>
            <a:off x="6163200" y="2505240"/>
            <a:ext cx="2769480" cy="474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Text 209"/>
          <p:cNvSpPr/>
          <p:nvPr/>
        </p:nvSpPr>
        <p:spPr>
          <a:xfrm>
            <a:off x="6273000" y="2505240"/>
            <a:ext cx="2559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EXP 03  ·  Augmentation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457" name="Shape 168"/>
          <p:cNvSpPr/>
          <p:nvPr/>
        </p:nvSpPr>
        <p:spPr>
          <a:xfrm>
            <a:off x="6273000" y="3053880"/>
            <a:ext cx="2559240" cy="474480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Text 210"/>
          <p:cNvSpPr/>
          <p:nvPr/>
        </p:nvSpPr>
        <p:spPr>
          <a:xfrm>
            <a:off x="6346080" y="3053880"/>
            <a:ext cx="24130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2c3e50"/>
                </a:solidFill>
                <a:latin typeface="Calibri"/>
                <a:ea typeface="Calibri"/>
              </a:rPr>
              <a:t>Train on ALL 7 quality variants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59" name="Text 211"/>
          <p:cNvSpPr/>
          <p:nvPr/>
        </p:nvSpPr>
        <p:spPr>
          <a:xfrm>
            <a:off x="6273000" y="3620880"/>
            <a:ext cx="25592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98–100% F1 on every quality. Near-perfect robustness.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0" name="Shape 169"/>
          <p:cNvSpPr/>
          <p:nvPr/>
        </p:nvSpPr>
        <p:spPr>
          <a:xfrm>
            <a:off x="6273000" y="4663080"/>
            <a:ext cx="913320" cy="218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212"/>
          <p:cNvSpPr/>
          <p:nvPr/>
        </p:nvSpPr>
        <p:spPr>
          <a:xfrm>
            <a:off x="6273000" y="4663080"/>
            <a:ext cx="9133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43" strike="noStrike">
                <a:solidFill>
                  <a:srgbClr val="ffffff"/>
                </a:solidFill>
                <a:latin typeface="Calibri"/>
                <a:ea typeface="Calibri"/>
              </a:rPr>
              <a:t>PERFECT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142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Shape 143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Text 46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92" strike="noStrike">
                <a:solidFill>
                  <a:srgbClr val="ffffff"/>
                </a:solidFill>
                <a:latin typeface="Calibri"/>
                <a:ea typeface="Calibri"/>
              </a:rPr>
              <a:t>KEY RESULTS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65" name="Text 181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6 / 9</a:t>
            </a:r>
            <a:endParaRPr b="0" lang="en-US" sz="900" spc="-1" strike="noStrike">
              <a:latin typeface="Arial"/>
            </a:endParaRPr>
          </a:p>
        </p:txBody>
      </p:sp>
      <p:graphicFrame>
        <p:nvGraphicFramePr>
          <p:cNvPr id="466" name="Chart 0"/>
          <p:cNvGraphicFramePr/>
          <p:nvPr/>
        </p:nvGraphicFramePr>
        <p:xfrm>
          <a:off x="271080" y="987480"/>
          <a:ext cx="4113720" cy="191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67" name="Shape 170"/>
          <p:cNvSpPr/>
          <p:nvPr/>
        </p:nvSpPr>
        <p:spPr>
          <a:xfrm>
            <a:off x="271080" y="2944440"/>
            <a:ext cx="4113720" cy="327960"/>
          </a:xfrm>
          <a:prstGeom prst="rect">
            <a:avLst/>
          </a:prstGeom>
          <a:solidFill>
            <a:srgbClr val="1abc9c">
              <a:alpha val="18000"/>
            </a:srgbClr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Text 213"/>
          <p:cNvSpPr/>
          <p:nvPr/>
        </p:nvSpPr>
        <p:spPr>
          <a:xfrm>
            <a:off x="380880" y="2944440"/>
            <a:ext cx="38941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All models stayed at 82–100% regardless of compression level.</a:t>
            </a:r>
            <a:endParaRPr b="0" lang="en-US" sz="900" spc="-1" strike="noStrike">
              <a:latin typeface="Arial"/>
            </a:endParaRPr>
          </a:p>
        </p:txBody>
      </p:sp>
      <p:graphicFrame>
        <p:nvGraphicFramePr>
          <p:cNvPr id="469" name="Chart 1"/>
          <p:cNvGraphicFramePr/>
          <p:nvPr/>
        </p:nvGraphicFramePr>
        <p:xfrm>
          <a:off x="4660200" y="987480"/>
          <a:ext cx="4205160" cy="191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0" name="Shape 171"/>
          <p:cNvSpPr/>
          <p:nvPr/>
        </p:nvSpPr>
        <p:spPr>
          <a:xfrm>
            <a:off x="4660200" y="2944440"/>
            <a:ext cx="4205160" cy="327960"/>
          </a:xfrm>
          <a:prstGeom prst="rect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214"/>
          <p:cNvSpPr/>
          <p:nvPr/>
        </p:nvSpPr>
        <p:spPr>
          <a:xfrm>
            <a:off x="4770000" y="2944440"/>
            <a:ext cx="39855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MobileNet trained on Q1 dropped to 44% F1 when tested on Q7.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2" name="Text 215"/>
          <p:cNvSpPr/>
          <p:nvPr/>
        </p:nvSpPr>
        <p:spPr>
          <a:xfrm>
            <a:off x="271080" y="3383280"/>
            <a:ext cx="8594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b1f3a"/>
                </a:solidFill>
                <a:latin typeface="Calibri"/>
                <a:ea typeface="Calibri"/>
              </a:rPr>
              <a:t>Exp 3: Before vs After Compression Augmentation (F1 %)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73" name="Text 216"/>
          <p:cNvSpPr/>
          <p:nvPr/>
        </p:nvSpPr>
        <p:spPr>
          <a:xfrm>
            <a:off x="271080" y="3767400"/>
            <a:ext cx="1553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CNN3 — Before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4" name="Shape 172"/>
          <p:cNvSpPr/>
          <p:nvPr/>
        </p:nvSpPr>
        <p:spPr>
          <a:xfrm>
            <a:off x="1898640" y="3813120"/>
            <a:ext cx="2061720" cy="16344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Shape 173"/>
          <p:cNvSpPr/>
          <p:nvPr/>
        </p:nvSpPr>
        <p:spPr>
          <a:xfrm>
            <a:off x="1898640" y="3813120"/>
            <a:ext cx="1422360" cy="163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Text 217"/>
          <p:cNvSpPr/>
          <p:nvPr/>
        </p:nvSpPr>
        <p:spPr>
          <a:xfrm>
            <a:off x="3376800" y="3767400"/>
            <a:ext cx="501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c0392b"/>
                </a:solidFill>
                <a:latin typeface="Calibri"/>
                <a:ea typeface="Calibri"/>
              </a:rPr>
              <a:t>69%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7" name="Text 218"/>
          <p:cNvSpPr/>
          <p:nvPr/>
        </p:nvSpPr>
        <p:spPr>
          <a:xfrm>
            <a:off x="4705920" y="3767400"/>
            <a:ext cx="1553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CNN3 — After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8" name="Shape 174"/>
          <p:cNvSpPr/>
          <p:nvPr/>
        </p:nvSpPr>
        <p:spPr>
          <a:xfrm>
            <a:off x="6333480" y="3813120"/>
            <a:ext cx="2061720" cy="16344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Shape 175"/>
          <p:cNvSpPr/>
          <p:nvPr/>
        </p:nvSpPr>
        <p:spPr>
          <a:xfrm>
            <a:off x="6333480" y="3813120"/>
            <a:ext cx="2041200" cy="163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Text 219"/>
          <p:cNvSpPr/>
          <p:nvPr/>
        </p:nvSpPr>
        <p:spPr>
          <a:xfrm>
            <a:off x="8430840" y="3767400"/>
            <a:ext cx="501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bc9c"/>
                </a:solidFill>
                <a:latin typeface="Calibri"/>
                <a:ea typeface="Calibri"/>
              </a:rPr>
              <a:t>99%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1" name="Text 220"/>
          <p:cNvSpPr/>
          <p:nvPr/>
        </p:nvSpPr>
        <p:spPr>
          <a:xfrm>
            <a:off x="271080" y="4114800"/>
            <a:ext cx="1553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MobileNet — Before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2" name="Shape 176"/>
          <p:cNvSpPr/>
          <p:nvPr/>
        </p:nvSpPr>
        <p:spPr>
          <a:xfrm>
            <a:off x="1898640" y="4160520"/>
            <a:ext cx="2061720" cy="16344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Shape 177"/>
          <p:cNvSpPr/>
          <p:nvPr/>
        </p:nvSpPr>
        <p:spPr>
          <a:xfrm>
            <a:off x="1898640" y="4160520"/>
            <a:ext cx="906480" cy="163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Text 221"/>
          <p:cNvSpPr/>
          <p:nvPr/>
        </p:nvSpPr>
        <p:spPr>
          <a:xfrm>
            <a:off x="2861280" y="4114800"/>
            <a:ext cx="501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c0392b"/>
                </a:solidFill>
                <a:latin typeface="Calibri"/>
                <a:ea typeface="Calibri"/>
              </a:rPr>
              <a:t>44%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5" name="Text 222"/>
          <p:cNvSpPr/>
          <p:nvPr/>
        </p:nvSpPr>
        <p:spPr>
          <a:xfrm>
            <a:off x="4705920" y="4114800"/>
            <a:ext cx="1553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MobileNet — After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6" name="Shape 178"/>
          <p:cNvSpPr/>
          <p:nvPr/>
        </p:nvSpPr>
        <p:spPr>
          <a:xfrm>
            <a:off x="6333480" y="4160520"/>
            <a:ext cx="2061720" cy="16344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Shape 179"/>
          <p:cNvSpPr/>
          <p:nvPr/>
        </p:nvSpPr>
        <p:spPr>
          <a:xfrm>
            <a:off x="6333480" y="4160520"/>
            <a:ext cx="2061720" cy="163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Text 223"/>
          <p:cNvSpPr/>
          <p:nvPr/>
        </p:nvSpPr>
        <p:spPr>
          <a:xfrm>
            <a:off x="8451360" y="4114800"/>
            <a:ext cx="501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bc9c"/>
                </a:solidFill>
                <a:latin typeface="Calibri"/>
                <a:ea typeface="Calibri"/>
              </a:rPr>
              <a:t>100%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9" name="Text 224"/>
          <p:cNvSpPr/>
          <p:nvPr/>
        </p:nvSpPr>
        <p:spPr>
          <a:xfrm>
            <a:off x="271080" y="4462200"/>
            <a:ext cx="1553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VGG16 — Before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0" name="Shape 180"/>
          <p:cNvSpPr/>
          <p:nvPr/>
        </p:nvSpPr>
        <p:spPr>
          <a:xfrm>
            <a:off x="1898640" y="4507920"/>
            <a:ext cx="2061720" cy="16344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Shape 181"/>
          <p:cNvSpPr/>
          <p:nvPr/>
        </p:nvSpPr>
        <p:spPr>
          <a:xfrm>
            <a:off x="1898640" y="4507920"/>
            <a:ext cx="1195560" cy="163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Text 225"/>
          <p:cNvSpPr/>
          <p:nvPr/>
        </p:nvSpPr>
        <p:spPr>
          <a:xfrm>
            <a:off x="3150000" y="4462200"/>
            <a:ext cx="501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c0392b"/>
                </a:solidFill>
                <a:latin typeface="Calibri"/>
                <a:ea typeface="Calibri"/>
              </a:rPr>
              <a:t>58%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3" name="Text 226"/>
          <p:cNvSpPr/>
          <p:nvPr/>
        </p:nvSpPr>
        <p:spPr>
          <a:xfrm>
            <a:off x="4705920" y="4462200"/>
            <a:ext cx="1553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f8c8d"/>
                </a:solidFill>
                <a:latin typeface="Calibri"/>
                <a:ea typeface="Calibri"/>
              </a:rPr>
              <a:t>VGG16 — After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4" name="Shape 182"/>
          <p:cNvSpPr/>
          <p:nvPr/>
        </p:nvSpPr>
        <p:spPr>
          <a:xfrm>
            <a:off x="6333480" y="4507920"/>
            <a:ext cx="2061720" cy="16344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Shape 183"/>
          <p:cNvSpPr/>
          <p:nvPr/>
        </p:nvSpPr>
        <p:spPr>
          <a:xfrm>
            <a:off x="6333480" y="4507920"/>
            <a:ext cx="2061720" cy="163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Text 227"/>
          <p:cNvSpPr/>
          <p:nvPr/>
        </p:nvSpPr>
        <p:spPr>
          <a:xfrm>
            <a:off x="8451360" y="4462200"/>
            <a:ext cx="501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bc9c"/>
                </a:solidFill>
                <a:latin typeface="Calibri"/>
                <a:ea typeface="Calibri"/>
              </a:rPr>
              <a:t>100%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144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Shape 9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Text 20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4" strike="noStrike">
                <a:solidFill>
                  <a:srgbClr val="ffffff"/>
                </a:solidFill>
                <a:latin typeface="Calibri"/>
                <a:ea typeface="Calibri"/>
              </a:rPr>
              <a:t>KEY FINDINGS &amp; CONCLUSION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00" name="Text 30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6 / 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01" name="Text 34"/>
          <p:cNvSpPr/>
          <p:nvPr/>
        </p:nvSpPr>
        <p:spPr>
          <a:xfrm>
            <a:off x="411480" y="76392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4" strike="noStrike">
                <a:solidFill>
                  <a:srgbClr val="ffffff"/>
                </a:solidFill>
                <a:latin typeface="Calibri"/>
                <a:ea typeface="Calibri"/>
              </a:rPr>
              <a:t>KEY FINDINGS &amp; CONCLUSION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02" name="Shape 14"/>
          <p:cNvSpPr/>
          <p:nvPr/>
        </p:nvSpPr>
        <p:spPr>
          <a:xfrm>
            <a:off x="411480" y="1221120"/>
            <a:ext cx="8319960" cy="35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Shape 18"/>
          <p:cNvSpPr/>
          <p:nvPr/>
        </p:nvSpPr>
        <p:spPr>
          <a:xfrm>
            <a:off x="411480" y="1367280"/>
            <a:ext cx="8319960" cy="803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Shape 19"/>
          <p:cNvSpPr/>
          <p:nvPr/>
        </p:nvSpPr>
        <p:spPr>
          <a:xfrm>
            <a:off x="411480" y="1367280"/>
            <a:ext cx="419400" cy="803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36"/>
          <p:cNvSpPr/>
          <p:nvPr/>
        </p:nvSpPr>
        <p:spPr>
          <a:xfrm>
            <a:off x="411480" y="1367280"/>
            <a:ext cx="41940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6" name="Text 38"/>
          <p:cNvSpPr/>
          <p:nvPr/>
        </p:nvSpPr>
        <p:spPr>
          <a:xfrm>
            <a:off x="932760" y="1422360"/>
            <a:ext cx="7661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Same compression quality = stable accuracy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7" name="Text 42"/>
          <p:cNvSpPr/>
          <p:nvPr/>
        </p:nvSpPr>
        <p:spPr>
          <a:xfrm>
            <a:off x="932760" y="1714680"/>
            <a:ext cx="7661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  <a:ea typeface="Calibri"/>
              </a:rPr>
              <a:t>When train and test images share the same JPEG quality, all models maintain consistent F1 (82–100%). The CNN adapts its features to that compression domain.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08" name="Shape 25"/>
          <p:cNvSpPr/>
          <p:nvPr/>
        </p:nvSpPr>
        <p:spPr>
          <a:xfrm>
            <a:off x="411480" y="2300040"/>
            <a:ext cx="8319960" cy="803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Shape 33"/>
          <p:cNvSpPr/>
          <p:nvPr/>
        </p:nvSpPr>
        <p:spPr>
          <a:xfrm>
            <a:off x="411480" y="2300040"/>
            <a:ext cx="419400" cy="803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44"/>
          <p:cNvSpPr/>
          <p:nvPr/>
        </p:nvSpPr>
        <p:spPr>
          <a:xfrm>
            <a:off x="411480" y="2300040"/>
            <a:ext cx="41940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1" name="Text 262"/>
          <p:cNvSpPr/>
          <p:nvPr/>
        </p:nvSpPr>
        <p:spPr>
          <a:xfrm>
            <a:off x="932760" y="2354760"/>
            <a:ext cx="7661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Mismatched quality = accuracy collapse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2" name="Text 263"/>
          <p:cNvSpPr/>
          <p:nvPr/>
        </p:nvSpPr>
        <p:spPr>
          <a:xfrm>
            <a:off x="932760" y="2647440"/>
            <a:ext cx="7661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  <a:ea typeface="Calibri"/>
              </a:rPr>
              <a:t>Significant F1 drops when train/test quality differs — worst case MobileNet: 97% → 44%. Higher-accuracy models are MORE sensitive to mismatches.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13" name="Shape 35"/>
          <p:cNvSpPr/>
          <p:nvPr/>
        </p:nvSpPr>
        <p:spPr>
          <a:xfrm>
            <a:off x="411480" y="3232800"/>
            <a:ext cx="8319960" cy="803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Shape 39"/>
          <p:cNvSpPr/>
          <p:nvPr/>
        </p:nvSpPr>
        <p:spPr>
          <a:xfrm>
            <a:off x="411480" y="3232800"/>
            <a:ext cx="419400" cy="803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264"/>
          <p:cNvSpPr/>
          <p:nvPr/>
        </p:nvSpPr>
        <p:spPr>
          <a:xfrm>
            <a:off x="411480" y="3232800"/>
            <a:ext cx="41940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6" name="Text 265"/>
          <p:cNvSpPr/>
          <p:nvPr/>
        </p:nvSpPr>
        <p:spPr>
          <a:xfrm>
            <a:off x="932760" y="3287520"/>
            <a:ext cx="7661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Compression augmentation = 98–100% robustness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7" name="Text 266"/>
          <p:cNvSpPr/>
          <p:nvPr/>
        </p:nvSpPr>
        <p:spPr>
          <a:xfrm>
            <a:off x="932760" y="3580200"/>
            <a:ext cx="7661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  <a:ea typeface="Calibri"/>
              </a:rPr>
              <a:t>Training on all 7 quality variants makes models robust to any compression level at deployment — the recommended strategy for IoT / embedded vision systems.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4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Shape 8"/>
          <p:cNvSpPr/>
          <p:nvPr/>
        </p:nvSpPr>
        <p:spPr>
          <a:xfrm>
            <a:off x="0" y="0"/>
            <a:ext cx="71640" cy="68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Text 10"/>
          <p:cNvSpPr/>
          <p:nvPr/>
        </p:nvSpPr>
        <p:spPr>
          <a:xfrm>
            <a:off x="182880" y="0"/>
            <a:ext cx="8776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r>
              <a:rPr b="1" lang="en-US" sz="1500" spc="191" strike="noStrike" baseline="33000">
                <a:solidFill>
                  <a:srgbClr val="ffffff"/>
                </a:solidFill>
                <a:latin typeface="Calibri"/>
                <a:ea typeface="DejaVu Sans"/>
              </a:rPr>
              <a:t>nd</a:t>
            </a:r>
            <a:r>
              <a:rPr b="1" lang="en-US" sz="1500" spc="191" strike="noStrike">
                <a:solidFill>
                  <a:srgbClr val="ffffff"/>
                </a:solidFill>
                <a:latin typeface="Calibri"/>
                <a:ea typeface="DejaVu Sans"/>
              </a:rPr>
              <a:t> paper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21" name="Text 16"/>
          <p:cNvSpPr/>
          <p:nvPr/>
        </p:nvSpPr>
        <p:spPr>
          <a:xfrm>
            <a:off x="0" y="4892040"/>
            <a:ext cx="914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227520" bIns="22752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Slide 6 / 9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22" name="" descr=""/>
          <p:cNvPicPr/>
          <p:nvPr/>
        </p:nvPicPr>
        <p:blipFill>
          <a:blip r:embed="rId1"/>
          <a:stretch/>
        </p:blipFill>
        <p:spPr>
          <a:xfrm>
            <a:off x="914400" y="1143000"/>
            <a:ext cx="7083360" cy="332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"/>
          <p:cNvSpPr/>
          <p:nvPr/>
        </p:nvSpPr>
        <p:spPr>
          <a:xfrm>
            <a:off x="7488000" y="1087560"/>
            <a:ext cx="741600" cy="1810800"/>
          </a:xfrm>
          <a:custGeom>
            <a:avLst/>
            <a:gdLst/>
            <a:ahLst/>
            <a:rect l="l" t="t" r="r" b="b"/>
            <a:pathLst>
              <a:path w="21600" h="52727">
                <a:moveTo>
                  <a:pt x="3600" y="0"/>
                </a:moveTo>
                <a:arcTo wR="3600" hR="3600" stAng="16200000" swAng="-5400000"/>
                <a:lnTo>
                  <a:pt x="0" y="49127"/>
                </a:lnTo>
                <a:arcTo wR="3600" hR="27527" stAng="10800000" swAng="5400000"/>
                <a:lnTo>
                  <a:pt x="18000" y="21600"/>
                </a:lnTo>
                <a:arcTo wR="3600" hR="27527" stAng="16200000" swAng="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"/>
          <p:cNvSpPr/>
          <p:nvPr/>
        </p:nvSpPr>
        <p:spPr>
          <a:xfrm>
            <a:off x="4515840" y="1590480"/>
            <a:ext cx="1667880" cy="855000"/>
          </a:xfrm>
          <a:custGeom>
            <a:avLst/>
            <a:gdLst/>
            <a:ahLst/>
            <a:rect l="l" t="t" r="r" b="b"/>
            <a:pathLst>
              <a:path w="42127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38527" y="21600"/>
                </a:lnTo>
                <a:arcTo wR="16927" hR="3600" stAng="5400000" swAng="5400000"/>
                <a:lnTo>
                  <a:pt x="21600" y="3600"/>
                </a:lnTo>
                <a:arcTo wR="16927" hR="3600" stAng="10800000" swAng="5400000"/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"/>
          <p:cNvSpPr/>
          <p:nvPr/>
        </p:nvSpPr>
        <p:spPr>
          <a:xfrm>
            <a:off x="3033000" y="1811880"/>
            <a:ext cx="1112040" cy="573480"/>
          </a:xfrm>
          <a:custGeom>
            <a:avLst/>
            <a:gdLst/>
            <a:ahLst/>
            <a:rect l="l" t="t" r="r" b="b"/>
            <a:pathLst>
              <a:path w="41872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38272" y="21600"/>
                </a:lnTo>
                <a:arcTo wR="16672" hR="3600" stAng="5400000" swAng="5400000"/>
                <a:lnTo>
                  <a:pt x="21600" y="3600"/>
                </a:lnTo>
                <a:arcTo wR="16672" hR="3600" stAng="10800000" swAng="5400000"/>
                <a:close/>
              </a:path>
            </a:pathLst>
          </a:custGeom>
          <a:solidFill>
            <a:srgbClr val="ffffff"/>
          </a:solidFill>
          <a:ln w="0">
            <a:solidFill>
              <a:srgbClr val="2a609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"/>
          <p:cNvSpPr txBox="1"/>
          <p:nvPr/>
        </p:nvSpPr>
        <p:spPr>
          <a:xfrm>
            <a:off x="457200" y="1683000"/>
            <a:ext cx="926640" cy="93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gkl_mask1.avi</a:t>
            </a:r>
            <a:br>
              <a:rPr sz="1100"/>
            </a:br>
            <a:r>
              <a:rPr b="0" lang="en-US" sz="1100" spc="-1" strike="noStrike">
                <a:latin typeface="Arial"/>
              </a:rPr>
              <a:t>Frame: 16,700 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457560" y="2947320"/>
            <a:ext cx="926640" cy="93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gkl_mask2.avi</a:t>
            </a:r>
            <a:br>
              <a:rPr sz="1100"/>
            </a:br>
            <a:r>
              <a:rPr b="0" lang="en-US" sz="1100" spc="-1" strike="noStrike">
                <a:latin typeface="Arial"/>
              </a:rPr>
              <a:t>Frame: 18,200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528" name="" descr=""/>
          <p:cNvPicPr/>
          <p:nvPr/>
        </p:nvPicPr>
        <p:blipFill>
          <a:blip r:embed="rId1"/>
          <a:stretch/>
        </p:blipFill>
        <p:spPr>
          <a:xfrm>
            <a:off x="583920" y="1191960"/>
            <a:ext cx="555840" cy="499320"/>
          </a:xfrm>
          <a:prstGeom prst="rect">
            <a:avLst/>
          </a:prstGeom>
          <a:ln w="0">
            <a:noFill/>
          </a:ln>
        </p:spPr>
      </p:pic>
      <p:pic>
        <p:nvPicPr>
          <p:cNvPr id="529" name="" descr=""/>
          <p:cNvPicPr/>
          <p:nvPr/>
        </p:nvPicPr>
        <p:blipFill>
          <a:blip r:embed="rId2"/>
          <a:stretch/>
        </p:blipFill>
        <p:spPr>
          <a:xfrm>
            <a:off x="583920" y="2445480"/>
            <a:ext cx="555840" cy="499320"/>
          </a:xfrm>
          <a:prstGeom prst="rect">
            <a:avLst/>
          </a:prstGeom>
          <a:ln w="0">
            <a:noFill/>
          </a:ln>
        </p:spPr>
      </p:pic>
      <p:pic>
        <p:nvPicPr>
          <p:cNvPr id="530" name="" descr=""/>
          <p:cNvPicPr/>
          <p:nvPr/>
        </p:nvPicPr>
        <p:blipFill>
          <a:blip r:embed="rId3"/>
          <a:stretch/>
        </p:blipFill>
        <p:spPr>
          <a:xfrm>
            <a:off x="1843200" y="1871640"/>
            <a:ext cx="807480" cy="461520"/>
          </a:xfrm>
          <a:prstGeom prst="rect">
            <a:avLst/>
          </a:prstGeom>
          <a:ln w="0">
            <a:noFill/>
          </a:ln>
        </p:spPr>
      </p:pic>
      <p:sp>
        <p:nvSpPr>
          <p:cNvPr id="531" name=""/>
          <p:cNvSpPr txBox="1"/>
          <p:nvPr/>
        </p:nvSpPr>
        <p:spPr>
          <a:xfrm>
            <a:off x="1775520" y="2299320"/>
            <a:ext cx="886680" cy="52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Frame: 34,900</a:t>
            </a:r>
            <a:endParaRPr b="0" lang="en-US" sz="1100" spc="-1" strike="noStrike">
              <a:latin typeface="Arial"/>
            </a:endParaRPr>
          </a:p>
        </p:txBody>
      </p:sp>
      <p:cxnSp>
        <p:nvCxnSpPr>
          <p:cNvPr id="532" name=""/>
          <p:cNvCxnSpPr>
            <a:stCxn id="528" idx="3"/>
            <a:endCxn id="530" idx="1"/>
          </p:cNvCxnSpPr>
          <p:nvPr/>
        </p:nvCxnSpPr>
        <p:spPr>
          <a:xfrm>
            <a:off x="1139760" y="1441440"/>
            <a:ext cx="703800" cy="661320"/>
          </a:xfrm>
          <a:prstGeom prst="bentConnector3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533" name=""/>
          <p:cNvCxnSpPr>
            <a:stCxn id="529" idx="3"/>
            <a:endCxn id="530" idx="1"/>
          </p:cNvCxnSpPr>
          <p:nvPr/>
        </p:nvCxnSpPr>
        <p:spPr>
          <a:xfrm flipV="1">
            <a:off x="1139760" y="2102400"/>
            <a:ext cx="703800" cy="592920"/>
          </a:xfrm>
          <a:prstGeom prst="bentConnector3">
            <a:avLst/>
          </a:prstGeom>
          <a:ln w="0">
            <a:solidFill>
              <a:srgbClr val="3465a4"/>
            </a:solidFill>
          </a:ln>
        </p:spPr>
      </p:cxnSp>
      <p:sp>
        <p:nvSpPr>
          <p:cNvPr id="534" name=""/>
          <p:cNvSpPr txBox="1"/>
          <p:nvPr/>
        </p:nvSpPr>
        <p:spPr>
          <a:xfrm>
            <a:off x="3218400" y="2370960"/>
            <a:ext cx="88632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YOLO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3020400" y="1879560"/>
            <a:ext cx="1309680" cy="114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Class: 02</a:t>
            </a:r>
            <a:br>
              <a:rPr sz="1100"/>
            </a:br>
            <a:r>
              <a:rPr b="0" lang="en-US" sz="1100" spc="-1" strike="noStrike">
                <a:latin typeface="Arial"/>
              </a:rPr>
              <a:t>[x1, y1, x2, y2] =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[120, 80, 300, 260]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2662200" y="2123280"/>
            <a:ext cx="3708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537" name="" descr=""/>
          <p:cNvPicPr/>
          <p:nvPr/>
        </p:nvPicPr>
        <p:blipFill>
          <a:blip r:embed="rId4"/>
          <a:stretch/>
        </p:blipFill>
        <p:spPr>
          <a:xfrm>
            <a:off x="4635360" y="1740600"/>
            <a:ext cx="402480" cy="574200"/>
          </a:xfrm>
          <a:prstGeom prst="rect">
            <a:avLst/>
          </a:prstGeom>
          <a:ln w="0">
            <a:noFill/>
          </a:ln>
        </p:spPr>
      </p:pic>
      <p:pic>
        <p:nvPicPr>
          <p:cNvPr id="538" name="" descr=""/>
          <p:cNvPicPr/>
          <p:nvPr/>
        </p:nvPicPr>
        <p:blipFill>
          <a:blip r:embed="rId5"/>
          <a:stretch/>
        </p:blipFill>
        <p:spPr>
          <a:xfrm>
            <a:off x="5123160" y="1740600"/>
            <a:ext cx="416880" cy="550080"/>
          </a:xfrm>
          <a:prstGeom prst="rect">
            <a:avLst/>
          </a:prstGeom>
          <a:ln w="0">
            <a:noFill/>
          </a:ln>
        </p:spPr>
      </p:pic>
      <p:pic>
        <p:nvPicPr>
          <p:cNvPr id="539" name="" descr=""/>
          <p:cNvPicPr/>
          <p:nvPr/>
        </p:nvPicPr>
        <p:blipFill>
          <a:blip r:embed="rId6"/>
          <a:stretch/>
        </p:blipFill>
        <p:spPr>
          <a:xfrm>
            <a:off x="5671800" y="1740600"/>
            <a:ext cx="424440" cy="557640"/>
          </a:xfrm>
          <a:prstGeom prst="rect">
            <a:avLst/>
          </a:prstGeom>
          <a:ln w="0">
            <a:noFill/>
          </a:ln>
        </p:spPr>
      </p:pic>
      <p:sp>
        <p:nvSpPr>
          <p:cNvPr id="540" name=""/>
          <p:cNvSpPr txBox="1"/>
          <p:nvPr/>
        </p:nvSpPr>
        <p:spPr>
          <a:xfrm>
            <a:off x="4969440" y="2431080"/>
            <a:ext cx="886320" cy="52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Card: </a:t>
            </a:r>
            <a:r>
              <a:rPr b="0" lang="en-US" sz="1100" spc="-1" strike="noStrike">
                <a:latin typeface="Arial"/>
              </a:rPr>
              <a:t>90,00</a:t>
            </a:r>
            <a:r>
              <a:rPr b="0" lang="en-US" sz="1100" spc="-1" strike="noStrike">
                <a:latin typeface="Arial"/>
              </a:rPr>
              <a:t>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506000" y="1193400"/>
            <a:ext cx="673920" cy="73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11 classes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4150800" y="2093040"/>
            <a:ext cx="3708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"/>
          <p:cNvSpPr txBox="1"/>
          <p:nvPr/>
        </p:nvSpPr>
        <p:spPr>
          <a:xfrm>
            <a:off x="6163560" y="1891440"/>
            <a:ext cx="1257840" cy="17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latin typeface="Arial"/>
              </a:rPr>
              <a:t>Img preprocessing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Image reconstruction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Unblur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6183720" y="2063160"/>
            <a:ext cx="128556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TextBox 8"/>
          <p:cNvSpPr/>
          <p:nvPr/>
        </p:nvSpPr>
        <p:spPr>
          <a:xfrm>
            <a:off x="2681640" y="457200"/>
            <a:ext cx="3206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4472c4"/>
                </a:solidFill>
                <a:latin typeface="Comic Sans MS"/>
              </a:rPr>
              <a:t>Data collection and labeling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7556400" y="1389960"/>
            <a:ext cx="914400" cy="22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0 (K,Q,J)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1 (A)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10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2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3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4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5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6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7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8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9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" descr=""/>
          <p:cNvPicPr/>
          <p:nvPr/>
        </p:nvPicPr>
        <p:blipFill>
          <a:blip r:embed="rId1"/>
          <a:srcRect l="0" t="0" r="48570" b="0"/>
          <a:stretch/>
        </p:blipFill>
        <p:spPr>
          <a:xfrm>
            <a:off x="5225760" y="685800"/>
            <a:ext cx="3461040" cy="3886200"/>
          </a:xfrm>
          <a:prstGeom prst="rect">
            <a:avLst/>
          </a:prstGeom>
          <a:ln w="0">
            <a:noFill/>
          </a:ln>
        </p:spPr>
      </p:pic>
      <p:sp>
        <p:nvSpPr>
          <p:cNvPr id="548" name=""/>
          <p:cNvSpPr txBox="1"/>
          <p:nvPr/>
        </p:nvSpPr>
        <p:spPr>
          <a:xfrm>
            <a:off x="914760" y="2034720"/>
            <a:ext cx="31572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Arial"/>
              </a:rPr>
              <a:t>나쁜 이미지와 좋은 이미지를 분리하다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3879720" y="2991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a933"/>
            </a:solidFill>
          </a:ln>
        </p:spPr>
      </p:sp>
      <p:pic>
        <p:nvPicPr>
          <p:cNvPr id="550" name="" descr=""/>
          <p:cNvPicPr/>
          <p:nvPr/>
        </p:nvPicPr>
        <p:blipFill>
          <a:blip r:embed="rId2"/>
          <a:stretch/>
        </p:blipFill>
        <p:spPr>
          <a:xfrm>
            <a:off x="4379400" y="4041720"/>
            <a:ext cx="301320" cy="290880"/>
          </a:xfrm>
          <a:prstGeom prst="rect">
            <a:avLst/>
          </a:prstGeom>
          <a:ln w="0">
            <a:noFill/>
          </a:ln>
        </p:spPr>
      </p:pic>
      <p:sp>
        <p:nvSpPr>
          <p:cNvPr id="551" name=""/>
          <p:cNvSpPr/>
          <p:nvPr/>
        </p:nvSpPr>
        <p:spPr>
          <a:xfrm>
            <a:off x="4648680" y="4177080"/>
            <a:ext cx="577080" cy="0"/>
          </a:xfrm>
          <a:prstGeom prst="line">
            <a:avLst/>
          </a:prstGeom>
          <a:ln w="0">
            <a:solidFill>
              <a:srgbClr val="00a9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552" name="" descr=""/>
          <p:cNvPicPr/>
          <p:nvPr/>
        </p:nvPicPr>
        <p:blipFill>
          <a:blip r:embed="rId3"/>
          <a:stretch/>
        </p:blipFill>
        <p:spPr>
          <a:xfrm>
            <a:off x="4314240" y="918000"/>
            <a:ext cx="334440" cy="295560"/>
          </a:xfrm>
          <a:prstGeom prst="rect">
            <a:avLst/>
          </a:prstGeom>
          <a:ln w="0">
            <a:noFill/>
          </a:ln>
        </p:spPr>
      </p:pic>
      <p:sp>
        <p:nvSpPr>
          <p:cNvPr id="553" name=""/>
          <p:cNvSpPr/>
          <p:nvPr/>
        </p:nvSpPr>
        <p:spPr>
          <a:xfrm>
            <a:off x="4648680" y="1058040"/>
            <a:ext cx="577080" cy="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Box 3"/>
          <p:cNvSpPr/>
          <p:nvPr/>
        </p:nvSpPr>
        <p:spPr>
          <a:xfrm>
            <a:off x="5626800" y="1341360"/>
            <a:ext cx="961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main.py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55" name="TextBox 4"/>
          <p:cNvSpPr/>
          <p:nvPr/>
        </p:nvSpPr>
        <p:spPr>
          <a:xfrm>
            <a:off x="5240160" y="2087640"/>
            <a:ext cx="173484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TableTracker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model  (sort) 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detect 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tracking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run 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56" name="TextBox 5"/>
          <p:cNvSpPr/>
          <p:nvPr/>
        </p:nvSpPr>
        <p:spPr>
          <a:xfrm>
            <a:off x="2951280" y="2276640"/>
            <a:ext cx="228888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layout:dict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layout_pixmap: narray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Id2label: dict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Label2id: dict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57" name="TextBox 6"/>
          <p:cNvSpPr/>
          <p:nvPr/>
        </p:nvSpPr>
        <p:spPr>
          <a:xfrm>
            <a:off x="6903720" y="2087640"/>
            <a:ext cx="202392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train_mobilenet.py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- model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- train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558" name="TextBox 7"/>
          <p:cNvSpPr/>
          <p:nvPr/>
        </p:nvSpPr>
        <p:spPr>
          <a:xfrm>
            <a:off x="474480" y="1510920"/>
            <a:ext cx="178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tablelayout.py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59" name="연결선: 꺾임 9"/>
          <p:cNvSpPr/>
          <p:nvPr/>
        </p:nvSpPr>
        <p:spPr>
          <a:xfrm rot="5400000">
            <a:off x="5903640" y="1883520"/>
            <a:ext cx="407520" cy="360"/>
          </a:xfrm>
          <a:prstGeom prst="bentConnector3">
            <a:avLst>
              <a:gd name="adj1" fmla="val 50000"/>
            </a:avLst>
          </a:prstGeom>
          <a:noFill/>
          <a:ln w="6480">
            <a:solidFill>
              <a:srgbClr val="4472c4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연결선: 꺾임 11"/>
          <p:cNvSpPr/>
          <p:nvPr/>
        </p:nvSpPr>
        <p:spPr>
          <a:xfrm>
            <a:off x="6589080" y="1510920"/>
            <a:ext cx="1326600" cy="576720"/>
          </a:xfrm>
          <a:prstGeom prst="bentConnector2">
            <a:avLst/>
          </a:prstGeom>
          <a:noFill/>
          <a:ln w="6480">
            <a:solidFill>
              <a:srgbClr val="4472c4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연결선: 꺾임 13"/>
          <p:cNvSpPr/>
          <p:nvPr/>
        </p:nvSpPr>
        <p:spPr>
          <a:xfrm flipV="1" rot="10800000">
            <a:off x="4096080" y="1508040"/>
            <a:ext cx="1530720" cy="765720"/>
          </a:xfrm>
          <a:prstGeom prst="bentConnector2">
            <a:avLst/>
          </a:prstGeom>
          <a:noFill/>
          <a:ln w="6480">
            <a:solidFill>
              <a:srgbClr val="4472c4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TextBox 20"/>
          <p:cNvSpPr/>
          <p:nvPr/>
        </p:nvSpPr>
        <p:spPr>
          <a:xfrm>
            <a:off x="6915240" y="4595040"/>
            <a:ext cx="2018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mobilenet_card.pt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3" name="직선 화살표 연결선 22"/>
          <p:cNvSpPr/>
          <p:nvPr/>
        </p:nvSpPr>
        <p:spPr>
          <a:xfrm flipH="1" flipV="1">
            <a:off x="7733160" y="3081600"/>
            <a:ext cx="8280" cy="151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480">
            <a:solidFill>
              <a:srgbClr val="4472c4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4" name="TextBox 26"/>
          <p:cNvSpPr/>
          <p:nvPr/>
        </p:nvSpPr>
        <p:spPr>
          <a:xfrm>
            <a:off x="4678560" y="4559040"/>
            <a:ext cx="2224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yolo11n_tablegame.pt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5" name="직선 화살표 연결선 27"/>
          <p:cNvSpPr/>
          <p:nvPr/>
        </p:nvSpPr>
        <p:spPr>
          <a:xfrm flipH="1" flipV="1">
            <a:off x="6056280" y="3600360"/>
            <a:ext cx="8280" cy="901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480">
            <a:solidFill>
              <a:srgbClr val="4472c4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TextBox 28"/>
          <p:cNvSpPr/>
          <p:nvPr/>
        </p:nvSpPr>
        <p:spPr>
          <a:xfrm>
            <a:off x="457200" y="4502160"/>
            <a:ext cx="1481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&lt;Layout&gt;.json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7" name="TextBox 29"/>
          <p:cNvSpPr/>
          <p:nvPr/>
        </p:nvSpPr>
        <p:spPr>
          <a:xfrm>
            <a:off x="457200" y="2344680"/>
            <a:ext cx="14817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- Load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- Save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mic Sans MS"/>
              </a:rPr>
              <a:t>- Edit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8" name="직선 화살표 연결선 31"/>
          <p:cNvSpPr/>
          <p:nvPr/>
        </p:nvSpPr>
        <p:spPr>
          <a:xfrm>
            <a:off x="1198440" y="3175560"/>
            <a:ext cx="360" cy="1325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480">
            <a:solidFill>
              <a:srgbClr val="4472c4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연결선: 꺾임 33"/>
          <p:cNvSpPr/>
          <p:nvPr/>
        </p:nvSpPr>
        <p:spPr>
          <a:xfrm flipV="1">
            <a:off x="1939680" y="2815200"/>
            <a:ext cx="1011240" cy="1855440"/>
          </a:xfrm>
          <a:prstGeom prst="bentConnector3">
            <a:avLst>
              <a:gd name="adj1" fmla="val 50000"/>
            </a:avLst>
          </a:prstGeom>
          <a:noFill/>
          <a:ln w="6480">
            <a:solidFill>
              <a:srgbClr val="4472c4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TextBox 19"/>
          <p:cNvSpPr/>
          <p:nvPr/>
        </p:nvSpPr>
        <p:spPr>
          <a:xfrm>
            <a:off x="3578040" y="228600"/>
            <a:ext cx="1721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4472c4"/>
                </a:solidFill>
                <a:latin typeface="Comic Sans MS"/>
              </a:rPr>
              <a:t>Code structure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 txBox="1"/>
          <p:nvPr/>
        </p:nvSpPr>
        <p:spPr>
          <a:xfrm>
            <a:off x="0" y="1371960"/>
            <a:ext cx="9035280" cy="290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Epoch 91/100 | train_loss=0.0034 train_acc=0.9996 | val_loss=0.0119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92/100 | train_loss=0.0045 train_acc=0.9993 | val_loss=0.0086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93/100 | train_loss=0.0035 train_acc=0.9995 | val_loss=0.0092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94/100 | train_loss=0.0032 train_acc=0.9995 | val_loss=0.0091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95/100 | train_loss=0.0034 train_acc=0.9996 | val_loss=0.0092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96/100 | train_loss=0.0035 train_acc=0.9995 | val_loss=0.0081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97/100 | train_loss=0.0034 train_acc=0.9996 | val_loss=0.0085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98/100 | train_loss=0.0035 train_acc=0.9996 | val_loss=0.0087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99/100 | train_loss=0.0033 train_acc=0.9996 | val_loss=0.0069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Epoch 100/100 | train_loss=0.0037 train_acc=0.9994 | val_loss=0.0105 val_acc=0.9989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Training finished. Best val acc: 0.9988505747126437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720080" y="361080"/>
            <a:ext cx="7315200" cy="78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latin typeface="Courier New"/>
                <a:ea typeface="Courier New"/>
              </a:rPr>
              <a:t>last 10 epoch training accuracy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" descr=""/>
          <p:cNvPicPr/>
          <p:nvPr/>
        </p:nvPicPr>
        <p:blipFill>
          <a:blip r:embed="rId1"/>
          <a:stretch/>
        </p:blipFill>
        <p:spPr>
          <a:xfrm>
            <a:off x="299160" y="565200"/>
            <a:ext cx="3815640" cy="2296800"/>
          </a:xfrm>
          <a:prstGeom prst="rect">
            <a:avLst/>
          </a:prstGeom>
          <a:ln w="0">
            <a:noFill/>
          </a:ln>
        </p:spPr>
      </p:pic>
      <p:pic>
        <p:nvPicPr>
          <p:cNvPr id="574" name="" descr=""/>
          <p:cNvPicPr/>
          <p:nvPr/>
        </p:nvPicPr>
        <p:blipFill>
          <a:blip r:embed="rId2"/>
          <a:stretch/>
        </p:blipFill>
        <p:spPr>
          <a:xfrm>
            <a:off x="4588200" y="601200"/>
            <a:ext cx="4098600" cy="2296800"/>
          </a:xfrm>
          <a:prstGeom prst="rect">
            <a:avLst/>
          </a:prstGeom>
          <a:ln w="0">
            <a:noFill/>
          </a:ln>
        </p:spPr>
      </p:pic>
      <p:pic>
        <p:nvPicPr>
          <p:cNvPr id="575" name="" descr=""/>
          <p:cNvPicPr/>
          <p:nvPr/>
        </p:nvPicPr>
        <p:blipFill>
          <a:blip r:embed="rId3"/>
          <a:stretch/>
        </p:blipFill>
        <p:spPr>
          <a:xfrm>
            <a:off x="2286000" y="3044520"/>
            <a:ext cx="3915000" cy="2213280"/>
          </a:xfrm>
          <a:prstGeom prst="rect">
            <a:avLst/>
          </a:prstGeom>
          <a:ln w="0">
            <a:noFill/>
          </a:ln>
        </p:spPr>
      </p:pic>
      <p:sp>
        <p:nvSpPr>
          <p:cNvPr id="576" name="TextBox 1"/>
          <p:cNvSpPr/>
          <p:nvPr/>
        </p:nvSpPr>
        <p:spPr>
          <a:xfrm>
            <a:off x="4095360" y="-114840"/>
            <a:ext cx="866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4472c4"/>
                </a:solidFill>
                <a:latin typeface="Comic Sans MS"/>
              </a:rPr>
              <a:t>Before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Box 2"/>
          <p:cNvSpPr/>
          <p:nvPr/>
        </p:nvSpPr>
        <p:spPr>
          <a:xfrm>
            <a:off x="4292280" y="-120600"/>
            <a:ext cx="76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4472c4"/>
                </a:solidFill>
                <a:latin typeface="Comic Sans MS"/>
              </a:rPr>
              <a:t>After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578" name="" descr=""/>
          <p:cNvPicPr/>
          <p:nvPr/>
        </p:nvPicPr>
        <p:blipFill>
          <a:blip r:embed="rId1"/>
          <a:stretch/>
        </p:blipFill>
        <p:spPr>
          <a:xfrm>
            <a:off x="228600" y="565200"/>
            <a:ext cx="4024800" cy="2286000"/>
          </a:xfrm>
          <a:prstGeom prst="rect">
            <a:avLst/>
          </a:prstGeom>
          <a:ln w="0">
            <a:noFill/>
          </a:ln>
        </p:spPr>
      </p:pic>
      <p:pic>
        <p:nvPicPr>
          <p:cNvPr id="579" name="" descr=""/>
          <p:cNvPicPr/>
          <p:nvPr/>
        </p:nvPicPr>
        <p:blipFill>
          <a:blip r:embed="rId2"/>
          <a:stretch/>
        </p:blipFill>
        <p:spPr>
          <a:xfrm>
            <a:off x="4601880" y="565200"/>
            <a:ext cx="4084920" cy="2294280"/>
          </a:xfrm>
          <a:prstGeom prst="rect">
            <a:avLst/>
          </a:prstGeom>
          <a:ln w="0">
            <a:noFill/>
          </a:ln>
        </p:spPr>
      </p:pic>
      <p:pic>
        <p:nvPicPr>
          <p:cNvPr id="580" name="" descr=""/>
          <p:cNvPicPr/>
          <p:nvPr/>
        </p:nvPicPr>
        <p:blipFill>
          <a:blip r:embed="rId3"/>
          <a:stretch/>
        </p:blipFill>
        <p:spPr>
          <a:xfrm>
            <a:off x="2514600" y="2980080"/>
            <a:ext cx="4343400" cy="244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Box 9"/>
          <p:cNvSpPr/>
          <p:nvPr/>
        </p:nvSpPr>
        <p:spPr>
          <a:xfrm>
            <a:off x="4386600" y="-108000"/>
            <a:ext cx="76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4472c4"/>
                </a:solidFill>
                <a:latin typeface="Comic Sans MS"/>
              </a:rPr>
              <a:t>After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582" name="" descr=""/>
          <p:cNvPicPr/>
          <p:nvPr/>
        </p:nvPicPr>
        <p:blipFill>
          <a:blip r:embed="rId1"/>
          <a:stretch/>
        </p:blipFill>
        <p:spPr>
          <a:xfrm>
            <a:off x="1143000" y="433800"/>
            <a:ext cx="7409520" cy="470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2026-04-07T17:17:54Z</dcterms:created>
  <dc:creator>PptxGenJS</dc:creator>
  <dc:description/>
  <dc:language>en-US</dc:language>
  <cp:lastModifiedBy/>
  <dcterms:modified xsi:type="dcterms:W3CDTF">2026-04-24T06:43:23Z</dcterms:modified>
  <cp:revision>17</cp:revision>
  <dc:subject>PptxGenJS Presentation</dc:subject>
  <dc:title>AITableGameMonitor Research Plan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